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7A"/>
        </a:solidFill>
      </p:bgPr>
    </p:bg>
    <p:spTree>
      <p:nvGrpSpPr>
        <p:cNvPr id="1" name=""/>
        <p:cNvGrpSpPr/>
        <p:nvPr/>
      </p:nvGrpSpPr>
      <p:grpSpPr>
        <a:xfrm>
          <a:off x="0" y="0"/>
          <a:ext cx="0" cy="0"/>
          <a:chOff x="0" y="0"/>
          <a:chExt cx="0" cy="0"/>
        </a:xfrm>
      </p:grpSpPr>
      <p:sp>
        <p:nvSpPr>
          <p:cNvPr id="2" name="Text 0"/>
          <p:cNvSpPr/>
          <p:nvPr/>
        </p:nvSpPr>
        <p:spPr>
          <a:xfrm>
            <a:off x="457200" y="1097280"/>
            <a:ext cx="822960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Breast Cancer Detection</a:t>
            </a:r>
            <a:endParaRPr lang="en-US" sz="3800" dirty="0"/>
          </a:p>
        </p:txBody>
      </p:sp>
      <p:sp>
        <p:nvSpPr>
          <p:cNvPr id="3" name="Text 1"/>
          <p:cNvSpPr/>
          <p:nvPr/>
        </p:nvSpPr>
        <p:spPr>
          <a:xfrm>
            <a:off x="457200" y="1874520"/>
            <a:ext cx="8229600" cy="594360"/>
          </a:xfrm>
          <a:prstGeom prst="rect">
            <a:avLst/>
          </a:prstGeom>
          <a:noFill/>
          <a:ln/>
        </p:spPr>
        <p:txBody>
          <a:bodyPr wrap="square" lIns="0" tIns="0" rIns="0" bIns="0" rtlCol="0" anchor="ctr"/>
          <a:lstStyle/>
          <a:p>
            <a:pPr algn="ctr" indent="0" marL="0">
              <a:buNone/>
            </a:pPr>
            <a:r>
              <a:rPr lang="en-US" sz="2800" dirty="0">
                <a:solidFill>
                  <a:srgbClr val="AED6F1"/>
                </a:solidFill>
                <a:latin typeface="Calibri" pitchFamily="34" charset="0"/>
                <a:ea typeface="Calibri" pitchFamily="34" charset="-122"/>
                <a:cs typeface="Calibri" pitchFamily="34" charset="-120"/>
              </a:rPr>
              <a:t>Using Machine Learning</a:t>
            </a:r>
            <a:endParaRPr lang="en-US" sz="2800" dirty="0"/>
          </a:p>
        </p:txBody>
      </p:sp>
      <p:sp>
        <p:nvSpPr>
          <p:cNvPr id="4" name="Shape 2"/>
          <p:cNvSpPr/>
          <p:nvPr/>
        </p:nvSpPr>
        <p:spPr>
          <a:xfrm>
            <a:off x="2743200" y="2606040"/>
            <a:ext cx="3657600" cy="36576"/>
          </a:xfrm>
          <a:prstGeom prst="rect">
            <a:avLst/>
          </a:prstGeom>
          <a:solidFill>
            <a:srgbClr val="4A90D9"/>
          </a:solidFill>
          <a:ln w="12700">
            <a:solidFill>
              <a:srgbClr val="4A90D9"/>
            </a:solidFill>
            <a:prstDash val="solid"/>
          </a:ln>
        </p:spPr>
      </p:sp>
      <p:sp>
        <p:nvSpPr>
          <p:cNvPr id="5" name="Text 3"/>
          <p:cNvSpPr/>
          <p:nvPr/>
        </p:nvSpPr>
        <p:spPr>
          <a:xfrm>
            <a:off x="457200" y="2788920"/>
            <a:ext cx="8229600" cy="320040"/>
          </a:xfrm>
          <a:prstGeom prst="rect">
            <a:avLst/>
          </a:prstGeom>
          <a:noFill/>
          <a:ln/>
        </p:spPr>
        <p:txBody>
          <a:bodyPr wrap="square" rtlCol="0" anchor="ctr"/>
          <a:lstStyle/>
          <a:p>
            <a:pPr algn="ctr" indent="0" marL="0">
              <a:buNone/>
            </a:pPr>
            <a:r>
              <a:rPr lang="en-US" sz="1300" b="1" dirty="0">
                <a:solidFill>
                  <a:srgbClr val="AED6F1"/>
                </a:solidFill>
                <a:latin typeface="Calibri" pitchFamily="34" charset="0"/>
                <a:ea typeface="Calibri" pitchFamily="34" charset="-122"/>
                <a:cs typeface="Calibri" pitchFamily="34" charset="-120"/>
              </a:rPr>
              <a:t>Technologies: </a:t>
            </a:r>
            <a:pPr algn="ctr" indent="0" marL="0">
              <a:buNone/>
            </a:pPr>
            <a:r>
              <a:rPr lang="en-US" sz="1300" dirty="0">
                <a:solidFill>
                  <a:srgbClr val="FFFFFF"/>
                </a:solidFill>
                <a:latin typeface="Calibri" pitchFamily="34" charset="0"/>
                <a:ea typeface="Calibri" pitchFamily="34" charset="-122"/>
                <a:cs typeface="Calibri" pitchFamily="34" charset="-120"/>
              </a:rPr>
              <a:t>Python  ·  Scikit-learn  ·  Pandas  ·  Matplotlib</a:t>
            </a:r>
            <a:endParaRPr lang="en-US" sz="1300" dirty="0"/>
          </a:p>
        </p:txBody>
      </p:sp>
      <p:sp>
        <p:nvSpPr>
          <p:cNvPr id="6" name="Text 4"/>
          <p:cNvSpPr/>
          <p:nvPr/>
        </p:nvSpPr>
        <p:spPr>
          <a:xfrm>
            <a:off x="457200" y="3127248"/>
            <a:ext cx="8229600" cy="320040"/>
          </a:xfrm>
          <a:prstGeom prst="rect">
            <a:avLst/>
          </a:prstGeom>
          <a:noFill/>
          <a:ln/>
        </p:spPr>
        <p:txBody>
          <a:bodyPr wrap="square" rtlCol="0" anchor="ctr"/>
          <a:lstStyle/>
          <a:p>
            <a:pPr algn="ctr" indent="0" marL="0">
              <a:buNone/>
            </a:pPr>
            <a:r>
              <a:rPr lang="en-US" sz="1300" b="1" dirty="0">
                <a:solidFill>
                  <a:srgbClr val="AED6F1"/>
                </a:solidFill>
                <a:latin typeface="Calibri" pitchFamily="34" charset="0"/>
                <a:ea typeface="Calibri" pitchFamily="34" charset="-122"/>
                <a:cs typeface="Calibri" pitchFamily="34" charset="-120"/>
              </a:rPr>
              <a:t>Dataset: </a:t>
            </a:r>
            <a:pPr algn="ctr" indent="0" marL="0">
              <a:buNone/>
            </a:pPr>
            <a:r>
              <a:rPr lang="en-US" sz="1300" dirty="0">
                <a:solidFill>
                  <a:srgbClr val="FFFFFF"/>
                </a:solidFill>
                <a:latin typeface="Calibri" pitchFamily="34" charset="0"/>
                <a:ea typeface="Calibri" pitchFamily="34" charset="-122"/>
                <a:cs typeface="Calibri" pitchFamily="34" charset="-120"/>
              </a:rPr>
              <a:t>Wisconsin Breast Cancer Dataset  (569 records, 30 features)</a:t>
            </a:r>
            <a:endParaRPr lang="en-US" sz="1300" dirty="0"/>
          </a:p>
        </p:txBody>
      </p:sp>
      <p:sp>
        <p:nvSpPr>
          <p:cNvPr id="7" name="Text 5"/>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100" dirty="0">
                <a:solidFill>
                  <a:srgbClr val="AED6F1"/>
                </a:solidFill>
                <a:latin typeface="Calibri" pitchFamily="34" charset="0"/>
                <a:ea typeface="Calibri" pitchFamily="34" charset="-122"/>
                <a:cs typeface="Calibri" pitchFamily="34" charset="-120"/>
              </a:rPr>
              <a:t>Submitted by: Gaurav Sharma  |  Roll No: 23BDA70050  |  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457200" y="804672"/>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  Introduction &amp; Problem Statement</a:t>
            </a:r>
            <a:endParaRPr lang="en-US" sz="1200" dirty="0"/>
          </a:p>
        </p:txBody>
      </p:sp>
      <p:sp>
        <p:nvSpPr>
          <p:cNvPr id="7" name="Text 5"/>
          <p:cNvSpPr/>
          <p:nvPr/>
        </p:nvSpPr>
        <p:spPr>
          <a:xfrm>
            <a:off x="457200" y="1298448"/>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2.  Dataset Overview</a:t>
            </a:r>
            <a:endParaRPr lang="en-US" sz="1200" dirty="0"/>
          </a:p>
        </p:txBody>
      </p:sp>
      <p:sp>
        <p:nvSpPr>
          <p:cNvPr id="8" name="Text 6"/>
          <p:cNvSpPr/>
          <p:nvPr/>
        </p:nvSpPr>
        <p:spPr>
          <a:xfrm>
            <a:off x="457200" y="1792224"/>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3.  Exploratory Data Analysis (EDA)</a:t>
            </a:r>
            <a:endParaRPr lang="en-US" sz="1200" dirty="0"/>
          </a:p>
        </p:txBody>
      </p:sp>
      <p:sp>
        <p:nvSpPr>
          <p:cNvPr id="9" name="Text 7"/>
          <p:cNvSpPr/>
          <p:nvPr/>
        </p:nvSpPr>
        <p:spPr>
          <a:xfrm>
            <a:off x="457200" y="2286000"/>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4.  Data Preprocessing</a:t>
            </a:r>
            <a:endParaRPr lang="en-US" sz="1200" dirty="0"/>
          </a:p>
        </p:txBody>
      </p:sp>
      <p:sp>
        <p:nvSpPr>
          <p:cNvPr id="10" name="Text 8"/>
          <p:cNvSpPr/>
          <p:nvPr/>
        </p:nvSpPr>
        <p:spPr>
          <a:xfrm>
            <a:off x="457200" y="2779776"/>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5.  Models Used</a:t>
            </a:r>
            <a:endParaRPr lang="en-US" sz="1200" dirty="0"/>
          </a:p>
        </p:txBody>
      </p:sp>
      <p:sp>
        <p:nvSpPr>
          <p:cNvPr id="11" name="Text 9"/>
          <p:cNvSpPr/>
          <p:nvPr/>
        </p:nvSpPr>
        <p:spPr>
          <a:xfrm>
            <a:off x="457200" y="3273552"/>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6.  Training &amp; Evaluation</a:t>
            </a:r>
            <a:endParaRPr lang="en-US" sz="1200" dirty="0"/>
          </a:p>
        </p:txBody>
      </p:sp>
      <p:sp>
        <p:nvSpPr>
          <p:cNvPr id="12" name="Text 10"/>
          <p:cNvSpPr/>
          <p:nvPr/>
        </p:nvSpPr>
        <p:spPr>
          <a:xfrm>
            <a:off x="457200" y="3767328"/>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7.  Results Comparison</a:t>
            </a:r>
            <a:endParaRPr lang="en-US" sz="1200" dirty="0"/>
          </a:p>
        </p:txBody>
      </p:sp>
      <p:sp>
        <p:nvSpPr>
          <p:cNvPr id="13" name="Text 11"/>
          <p:cNvSpPr/>
          <p:nvPr/>
        </p:nvSpPr>
        <p:spPr>
          <a:xfrm>
            <a:off x="457200" y="4261104"/>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8.  Confusion Matrices</a:t>
            </a:r>
            <a:endParaRPr lang="en-US" sz="1200" dirty="0"/>
          </a:p>
        </p:txBody>
      </p:sp>
      <p:sp>
        <p:nvSpPr>
          <p:cNvPr id="14" name="Text 12"/>
          <p:cNvSpPr/>
          <p:nvPr/>
        </p:nvSpPr>
        <p:spPr>
          <a:xfrm>
            <a:off x="4754880" y="804672"/>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9.  ROC Curves</a:t>
            </a:r>
            <a:endParaRPr lang="en-US" sz="1200" dirty="0"/>
          </a:p>
        </p:txBody>
      </p:sp>
      <p:sp>
        <p:nvSpPr>
          <p:cNvPr id="15" name="Text 13"/>
          <p:cNvSpPr/>
          <p:nvPr/>
        </p:nvSpPr>
        <p:spPr>
          <a:xfrm>
            <a:off x="4754880" y="1298448"/>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10. Feature Importance</a:t>
            </a:r>
            <a:endParaRPr lang="en-US" sz="1200" dirty="0"/>
          </a:p>
        </p:txBody>
      </p:sp>
      <p:sp>
        <p:nvSpPr>
          <p:cNvPr id="16" name="Text 14"/>
          <p:cNvSpPr/>
          <p:nvPr/>
        </p:nvSpPr>
        <p:spPr>
          <a:xfrm>
            <a:off x="4754880" y="1792224"/>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11. Cross-Validation Results</a:t>
            </a:r>
            <a:endParaRPr lang="en-US" sz="1200" dirty="0"/>
          </a:p>
        </p:txBody>
      </p:sp>
      <p:sp>
        <p:nvSpPr>
          <p:cNvPr id="17" name="Text 15"/>
          <p:cNvSpPr/>
          <p:nvPr/>
        </p:nvSpPr>
        <p:spPr>
          <a:xfrm>
            <a:off x="4754880" y="2286000"/>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12. ROC-Optimised Random Forest</a:t>
            </a:r>
            <a:endParaRPr lang="en-US" sz="1200" dirty="0"/>
          </a:p>
        </p:txBody>
      </p:sp>
      <p:sp>
        <p:nvSpPr>
          <p:cNvPr id="18" name="Text 16"/>
          <p:cNvSpPr/>
          <p:nvPr/>
        </p:nvSpPr>
        <p:spPr>
          <a:xfrm>
            <a:off x="4754880" y="2779776"/>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13. Conclusion</a:t>
            </a:r>
            <a:endParaRPr lang="en-US" sz="1200" dirty="0"/>
          </a:p>
        </p:txBody>
      </p:sp>
      <p:sp>
        <p:nvSpPr>
          <p:cNvPr id="19" name="Text 17"/>
          <p:cNvSpPr/>
          <p:nvPr/>
        </p:nvSpPr>
        <p:spPr>
          <a:xfrm>
            <a:off x="4754880" y="3273552"/>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14. Future Work</a:t>
            </a:r>
            <a:endParaRPr lang="en-US" sz="1200" dirty="0"/>
          </a:p>
        </p:txBody>
      </p:sp>
      <p:sp>
        <p:nvSpPr>
          <p:cNvPr id="20" name="Text 18"/>
          <p:cNvSpPr/>
          <p:nvPr/>
        </p:nvSpPr>
        <p:spPr>
          <a:xfrm>
            <a:off x="4754880" y="3767328"/>
            <a:ext cx="4114800" cy="41148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15. References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Introduction &amp; Problem Statement</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77240"/>
            <a:ext cx="8229600" cy="347472"/>
          </a:xfrm>
          <a:prstGeom prst="rect">
            <a:avLst/>
          </a:prstGeom>
          <a:noFill/>
          <a:ln/>
        </p:spPr>
        <p:txBody>
          <a:bodyPr wrap="square" lIns="0" tIns="0" rIns="0" bIns="0" rtlCol="0" anchor="ctr"/>
          <a:lstStyle/>
          <a:p>
            <a:pPr indent="0" marL="0">
              <a:buNone/>
            </a:pPr>
            <a:r>
              <a:rPr lang="en-US" sz="1500" b="1" dirty="0">
                <a:solidFill>
                  <a:srgbClr val="2C3E7A"/>
                </a:solidFill>
                <a:latin typeface="Calibri" pitchFamily="34" charset="0"/>
                <a:ea typeface="Calibri" pitchFamily="34" charset="-122"/>
                <a:cs typeface="Calibri" pitchFamily="34" charset="-120"/>
              </a:rPr>
              <a:t>Why Early Detection Matters</a:t>
            </a:r>
            <a:endParaRPr lang="en-US" sz="1500" dirty="0"/>
          </a:p>
        </p:txBody>
      </p:sp>
      <p:sp>
        <p:nvSpPr>
          <p:cNvPr id="7" name="Text 5"/>
          <p:cNvSpPr/>
          <p:nvPr/>
        </p:nvSpPr>
        <p:spPr>
          <a:xfrm>
            <a:off x="365760" y="1143000"/>
            <a:ext cx="8412480" cy="7772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Breast cancer is the most frequently diagnosed cancer among women worldwide. Early and accurate detection significantly improves patient survival rates. Traditional diagnosis involves manual analysis of cell biopsies which can be time-consuming and prone to human error.</a:t>
            </a:r>
            <a:endParaRPr lang="en-US" sz="1200" dirty="0"/>
          </a:p>
        </p:txBody>
      </p:sp>
      <p:sp>
        <p:nvSpPr>
          <p:cNvPr id="8" name="Text 6"/>
          <p:cNvSpPr/>
          <p:nvPr/>
        </p:nvSpPr>
        <p:spPr>
          <a:xfrm>
            <a:off x="365760" y="2011680"/>
            <a:ext cx="8229600" cy="320040"/>
          </a:xfrm>
          <a:prstGeom prst="rect">
            <a:avLst/>
          </a:prstGeom>
          <a:noFill/>
          <a:ln/>
        </p:spPr>
        <p:txBody>
          <a:bodyPr wrap="square" lIns="0" tIns="0" rIns="0" bIns="0" rtlCol="0" anchor="ctr"/>
          <a:lstStyle/>
          <a:p>
            <a:pPr indent="0" marL="0">
              <a:buNone/>
            </a:pPr>
            <a:r>
              <a:rPr lang="en-US" sz="1500" b="1" dirty="0">
                <a:solidFill>
                  <a:srgbClr val="2C3E7A"/>
                </a:solidFill>
                <a:latin typeface="Calibri" pitchFamily="34" charset="0"/>
                <a:ea typeface="Calibri" pitchFamily="34" charset="-122"/>
                <a:cs typeface="Calibri" pitchFamily="34" charset="-120"/>
              </a:rPr>
              <a:t>Objective</a:t>
            </a:r>
            <a:endParaRPr lang="en-US" sz="1500" dirty="0"/>
          </a:p>
        </p:txBody>
      </p:sp>
      <p:sp>
        <p:nvSpPr>
          <p:cNvPr id="9" name="Text 7"/>
          <p:cNvSpPr/>
          <p:nvPr/>
        </p:nvSpPr>
        <p:spPr>
          <a:xfrm>
            <a:off x="457200" y="2395728"/>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Build an automated ML pipeline to classify tumours as Benign or Malignant</a:t>
            </a:r>
            <a:endParaRPr lang="en-US" sz="1200" dirty="0"/>
          </a:p>
        </p:txBody>
      </p:sp>
      <p:sp>
        <p:nvSpPr>
          <p:cNvPr id="10" name="Text 8"/>
          <p:cNvSpPr/>
          <p:nvPr/>
        </p:nvSpPr>
        <p:spPr>
          <a:xfrm>
            <a:off x="457200" y="2834640"/>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Compare performance of Logistic Regression, SVM and Random Forest</a:t>
            </a:r>
            <a:endParaRPr lang="en-US" sz="1200" dirty="0"/>
          </a:p>
        </p:txBody>
      </p:sp>
      <p:sp>
        <p:nvSpPr>
          <p:cNvPr id="11" name="Text 9"/>
          <p:cNvSpPr/>
          <p:nvPr/>
        </p:nvSpPr>
        <p:spPr>
          <a:xfrm>
            <a:off x="457200" y="3273552"/>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Reduce false negatives (missed malignant cases) using ROC-threshold tuning</a:t>
            </a:r>
            <a:endParaRPr lang="en-US" sz="1200" dirty="0"/>
          </a:p>
        </p:txBody>
      </p:sp>
      <p:sp>
        <p:nvSpPr>
          <p:cNvPr id="12" name="Text 10"/>
          <p:cNvSpPr/>
          <p:nvPr/>
        </p:nvSpPr>
        <p:spPr>
          <a:xfrm>
            <a:off x="457200" y="3712464"/>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Achieve above 95% classification accuracy on the test set</a:t>
            </a:r>
            <a:endParaRPr lang="en-US" sz="1200" dirty="0"/>
          </a:p>
        </p:txBody>
      </p:sp>
      <p:sp>
        <p:nvSpPr>
          <p:cNvPr id="13" name="Shape 11"/>
          <p:cNvSpPr/>
          <p:nvPr/>
        </p:nvSpPr>
        <p:spPr>
          <a:xfrm>
            <a:off x="365760" y="4251960"/>
            <a:ext cx="8412480" cy="502920"/>
          </a:xfrm>
          <a:prstGeom prst="rect">
            <a:avLst/>
          </a:prstGeom>
          <a:solidFill>
            <a:srgbClr val="F5F7FA"/>
          </a:solidFill>
          <a:ln w="12700">
            <a:solidFill>
              <a:srgbClr val="4A90D9"/>
            </a:solidFill>
            <a:prstDash val="solid"/>
          </a:ln>
        </p:spPr>
      </p:sp>
      <p:sp>
        <p:nvSpPr>
          <p:cNvPr id="14" name="Text 12"/>
          <p:cNvSpPr/>
          <p:nvPr/>
        </p:nvSpPr>
        <p:spPr>
          <a:xfrm>
            <a:off x="457200" y="4279392"/>
            <a:ext cx="8229600" cy="438912"/>
          </a:xfrm>
          <a:prstGeom prst="rect">
            <a:avLst/>
          </a:prstGeom>
          <a:noFill/>
          <a:ln/>
        </p:spPr>
        <p:txBody>
          <a:bodyPr wrap="square" lIns="0" tIns="0" rIns="0" bIns="0" rtlCol="0" anchor="ctr"/>
          <a:lstStyle/>
          <a:p>
            <a:pPr algn="ctr" indent="0" marL="0">
              <a:buNone/>
            </a:pPr>
            <a:r>
              <a:rPr lang="en-US" sz="1100" i="1" dirty="0">
                <a:solidFill>
                  <a:srgbClr val="2C3E7A"/>
                </a:solidFill>
                <a:latin typeface="Calibri" pitchFamily="34" charset="0"/>
                <a:ea typeface="Calibri" pitchFamily="34" charset="-122"/>
                <a:cs typeface="Calibri" pitchFamily="34" charset="-120"/>
              </a:rPr>
              <a:t>"Machine learning can assist clinicians by providing a second, faster, data-driven opinion on cancer diagnosis."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Dataset Overview</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Shape 4"/>
          <p:cNvSpPr/>
          <p:nvPr/>
        </p:nvSpPr>
        <p:spPr>
          <a:xfrm>
            <a:off x="365760" y="777240"/>
            <a:ext cx="1920240" cy="1005840"/>
          </a:xfrm>
          <a:prstGeom prst="rect">
            <a:avLst/>
          </a:prstGeom>
          <a:solidFill>
            <a:srgbClr val="2C3E7A"/>
          </a:solidFill>
          <a:ln w="12700">
            <a:solidFill>
              <a:srgbClr val="2C3E7A"/>
            </a:solidFill>
            <a:prstDash val="solid"/>
          </a:ln>
        </p:spPr>
      </p:sp>
      <p:sp>
        <p:nvSpPr>
          <p:cNvPr id="7" name="Text 5"/>
          <p:cNvSpPr/>
          <p:nvPr/>
        </p:nvSpPr>
        <p:spPr>
          <a:xfrm>
            <a:off x="365760" y="822960"/>
            <a:ext cx="19202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569</a:t>
            </a:r>
            <a:endParaRPr lang="en-US" sz="2600" dirty="0"/>
          </a:p>
        </p:txBody>
      </p:sp>
      <p:sp>
        <p:nvSpPr>
          <p:cNvPr id="8" name="Text 6"/>
          <p:cNvSpPr/>
          <p:nvPr/>
        </p:nvSpPr>
        <p:spPr>
          <a:xfrm>
            <a:off x="365760" y="1389888"/>
            <a:ext cx="19202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Total Samples</a:t>
            </a:r>
            <a:endParaRPr lang="en-US" sz="1100" dirty="0"/>
          </a:p>
        </p:txBody>
      </p:sp>
      <p:sp>
        <p:nvSpPr>
          <p:cNvPr id="9" name="Shape 7"/>
          <p:cNvSpPr/>
          <p:nvPr/>
        </p:nvSpPr>
        <p:spPr>
          <a:xfrm>
            <a:off x="2514600" y="777240"/>
            <a:ext cx="1920240" cy="1005840"/>
          </a:xfrm>
          <a:prstGeom prst="rect">
            <a:avLst/>
          </a:prstGeom>
          <a:solidFill>
            <a:srgbClr val="4A90D9"/>
          </a:solidFill>
          <a:ln w="12700">
            <a:solidFill>
              <a:srgbClr val="4A90D9"/>
            </a:solidFill>
            <a:prstDash val="solid"/>
          </a:ln>
        </p:spPr>
      </p:sp>
      <p:sp>
        <p:nvSpPr>
          <p:cNvPr id="10" name="Text 8"/>
          <p:cNvSpPr/>
          <p:nvPr/>
        </p:nvSpPr>
        <p:spPr>
          <a:xfrm>
            <a:off x="2514600" y="822960"/>
            <a:ext cx="19202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30</a:t>
            </a:r>
            <a:endParaRPr lang="en-US" sz="2600" dirty="0"/>
          </a:p>
        </p:txBody>
      </p:sp>
      <p:sp>
        <p:nvSpPr>
          <p:cNvPr id="11" name="Text 9"/>
          <p:cNvSpPr/>
          <p:nvPr/>
        </p:nvSpPr>
        <p:spPr>
          <a:xfrm>
            <a:off x="2514600" y="1389888"/>
            <a:ext cx="19202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Features</a:t>
            </a:r>
            <a:endParaRPr lang="en-US" sz="1100" dirty="0"/>
          </a:p>
        </p:txBody>
      </p:sp>
      <p:sp>
        <p:nvSpPr>
          <p:cNvPr id="12" name="Shape 10"/>
          <p:cNvSpPr/>
          <p:nvPr/>
        </p:nvSpPr>
        <p:spPr>
          <a:xfrm>
            <a:off x="4663440" y="777240"/>
            <a:ext cx="1920240" cy="1005840"/>
          </a:xfrm>
          <a:prstGeom prst="rect">
            <a:avLst/>
          </a:prstGeom>
          <a:solidFill>
            <a:srgbClr val="27AE60"/>
          </a:solidFill>
          <a:ln w="12700">
            <a:solidFill>
              <a:srgbClr val="27AE60"/>
            </a:solidFill>
            <a:prstDash val="solid"/>
          </a:ln>
        </p:spPr>
      </p:sp>
      <p:sp>
        <p:nvSpPr>
          <p:cNvPr id="13" name="Text 11"/>
          <p:cNvSpPr/>
          <p:nvPr/>
        </p:nvSpPr>
        <p:spPr>
          <a:xfrm>
            <a:off x="4663440" y="822960"/>
            <a:ext cx="19202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357</a:t>
            </a:r>
            <a:endParaRPr lang="en-US" sz="2600" dirty="0"/>
          </a:p>
        </p:txBody>
      </p:sp>
      <p:sp>
        <p:nvSpPr>
          <p:cNvPr id="14" name="Text 12"/>
          <p:cNvSpPr/>
          <p:nvPr/>
        </p:nvSpPr>
        <p:spPr>
          <a:xfrm>
            <a:off x="4663440" y="1389888"/>
            <a:ext cx="19202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Benign (62.7%)</a:t>
            </a:r>
            <a:endParaRPr lang="en-US" sz="1100" dirty="0"/>
          </a:p>
        </p:txBody>
      </p:sp>
      <p:sp>
        <p:nvSpPr>
          <p:cNvPr id="15" name="Shape 13"/>
          <p:cNvSpPr/>
          <p:nvPr/>
        </p:nvSpPr>
        <p:spPr>
          <a:xfrm>
            <a:off x="6812280" y="777240"/>
            <a:ext cx="1920240" cy="1005840"/>
          </a:xfrm>
          <a:prstGeom prst="rect">
            <a:avLst/>
          </a:prstGeom>
          <a:solidFill>
            <a:srgbClr val="E74C3C"/>
          </a:solidFill>
          <a:ln w="12700">
            <a:solidFill>
              <a:srgbClr val="E74C3C"/>
            </a:solidFill>
            <a:prstDash val="solid"/>
          </a:ln>
        </p:spPr>
      </p:sp>
      <p:sp>
        <p:nvSpPr>
          <p:cNvPr id="16" name="Text 14"/>
          <p:cNvSpPr/>
          <p:nvPr/>
        </p:nvSpPr>
        <p:spPr>
          <a:xfrm>
            <a:off x="6812280" y="822960"/>
            <a:ext cx="19202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212</a:t>
            </a:r>
            <a:endParaRPr lang="en-US" sz="2600" dirty="0"/>
          </a:p>
        </p:txBody>
      </p:sp>
      <p:sp>
        <p:nvSpPr>
          <p:cNvPr id="17" name="Text 15"/>
          <p:cNvSpPr/>
          <p:nvPr/>
        </p:nvSpPr>
        <p:spPr>
          <a:xfrm>
            <a:off x="6812280" y="1389888"/>
            <a:ext cx="19202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Malignant (37.3%)</a:t>
            </a:r>
            <a:endParaRPr lang="en-US" sz="1100" dirty="0"/>
          </a:p>
        </p:txBody>
      </p:sp>
      <p:sp>
        <p:nvSpPr>
          <p:cNvPr id="18" name="Text 16"/>
          <p:cNvSpPr/>
          <p:nvPr/>
        </p:nvSpPr>
        <p:spPr>
          <a:xfrm>
            <a:off x="365760" y="1920240"/>
            <a:ext cx="8229600" cy="320040"/>
          </a:xfrm>
          <a:prstGeom prst="rect">
            <a:avLst/>
          </a:prstGeom>
          <a:noFill/>
          <a:ln/>
        </p:spPr>
        <p:txBody>
          <a:bodyPr wrap="square" lIns="0" tIns="0" rIns="0" bIns="0" rtlCol="0" anchor="ctr"/>
          <a:lstStyle/>
          <a:p>
            <a:pPr indent="0" marL="0">
              <a:buNone/>
            </a:pPr>
            <a:r>
              <a:rPr lang="en-US" sz="1400" b="1" dirty="0">
                <a:solidFill>
                  <a:srgbClr val="2C3E7A"/>
                </a:solidFill>
                <a:latin typeface="Calibri" pitchFamily="34" charset="0"/>
                <a:ea typeface="Calibri" pitchFamily="34" charset="-122"/>
                <a:cs typeface="Calibri" pitchFamily="34" charset="-120"/>
              </a:rPr>
              <a:t>About the Dataset</a:t>
            </a:r>
            <a:endParaRPr lang="en-US" sz="1400" dirty="0"/>
          </a:p>
        </p:txBody>
      </p:sp>
      <p:sp>
        <p:nvSpPr>
          <p:cNvPr id="19" name="Text 17"/>
          <p:cNvSpPr/>
          <p:nvPr/>
        </p:nvSpPr>
        <p:spPr>
          <a:xfrm>
            <a:off x="457200" y="2304288"/>
            <a:ext cx="832104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Source:  UCI Machine Learning Repository (available in sklearn.datasets)</a:t>
            </a:r>
            <a:endParaRPr lang="en-US" sz="1200" dirty="0"/>
          </a:p>
        </p:txBody>
      </p:sp>
      <p:sp>
        <p:nvSpPr>
          <p:cNvPr id="20" name="Text 18"/>
          <p:cNvSpPr/>
          <p:nvPr/>
        </p:nvSpPr>
        <p:spPr>
          <a:xfrm>
            <a:off x="457200" y="2724912"/>
            <a:ext cx="832104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Features:  Mean, standard error and worst values of 10 cell nucleus measurements</a:t>
            </a:r>
            <a:endParaRPr lang="en-US" sz="1200" dirty="0"/>
          </a:p>
        </p:txBody>
      </p:sp>
      <p:sp>
        <p:nvSpPr>
          <p:cNvPr id="21" name="Text 19"/>
          <p:cNvSpPr/>
          <p:nvPr/>
        </p:nvSpPr>
        <p:spPr>
          <a:xfrm>
            <a:off x="457200" y="3145536"/>
            <a:ext cx="832104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Measurements include: radius, texture, perimeter, area, smoothness, compactness, concavity, etc.</a:t>
            </a:r>
            <a:endParaRPr lang="en-US" sz="1200" dirty="0"/>
          </a:p>
        </p:txBody>
      </p:sp>
      <p:sp>
        <p:nvSpPr>
          <p:cNvPr id="22" name="Text 20"/>
          <p:cNvSpPr/>
          <p:nvPr/>
        </p:nvSpPr>
        <p:spPr>
          <a:xfrm>
            <a:off x="457200" y="3566160"/>
            <a:ext cx="832104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Target:  Binary — 1 (Benign) or 0 (Malignant)</a:t>
            </a:r>
            <a:endParaRPr lang="en-US" sz="1200" dirty="0"/>
          </a:p>
        </p:txBody>
      </p:sp>
      <p:sp>
        <p:nvSpPr>
          <p:cNvPr id="23" name="Text 21"/>
          <p:cNvSpPr/>
          <p:nvPr/>
        </p:nvSpPr>
        <p:spPr>
          <a:xfrm>
            <a:off x="457200" y="3986784"/>
            <a:ext cx="832104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Missing values:  None — dataset is clean and ready to 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Exploratory Data Analysis (EDA)</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pic>
        <p:nvPicPr>
          <p:cNvPr id="6" name="Image 0" descr="/home/claude/breast_cancer_project/charts/01_eda_overview.png">    </p:cNvPr>
          <p:cNvPicPr>
            <a:picLocks noChangeAspect="1"/>
          </p:cNvPicPr>
          <p:nvPr/>
        </p:nvPicPr>
        <p:blipFill>
          <a:blip r:embed="rId1"/>
          <a:stretch>
            <a:fillRect/>
          </a:stretch>
        </p:blipFill>
        <p:spPr>
          <a:xfrm>
            <a:off x="182880" y="731520"/>
            <a:ext cx="8778240" cy="4069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Preprocessing</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Shape 4"/>
          <p:cNvSpPr/>
          <p:nvPr/>
        </p:nvSpPr>
        <p:spPr>
          <a:xfrm>
            <a:off x="274320" y="749808"/>
            <a:ext cx="54864" cy="777240"/>
          </a:xfrm>
          <a:prstGeom prst="rect">
            <a:avLst/>
          </a:prstGeom>
          <a:solidFill>
            <a:srgbClr val="4A90D9"/>
          </a:solidFill>
          <a:ln w="12700">
            <a:solidFill>
              <a:srgbClr val="4A90D9"/>
            </a:solidFill>
            <a:prstDash val="solid"/>
          </a:ln>
        </p:spPr>
      </p:sp>
      <p:sp>
        <p:nvSpPr>
          <p:cNvPr id="7" name="Text 5"/>
          <p:cNvSpPr/>
          <p:nvPr/>
        </p:nvSpPr>
        <p:spPr>
          <a:xfrm>
            <a:off x="457200" y="768096"/>
            <a:ext cx="8229600" cy="292608"/>
          </a:xfrm>
          <a:prstGeom prst="rect">
            <a:avLst/>
          </a:prstGeom>
          <a:noFill/>
          <a:ln/>
        </p:spPr>
        <p:txBody>
          <a:bodyPr wrap="square" lIns="0" tIns="0" rIns="0" bIns="0" rtlCol="0" anchor="ctr"/>
          <a:lstStyle/>
          <a:p>
            <a:pPr indent="0" marL="0">
              <a:buNone/>
            </a:pPr>
            <a:r>
              <a:rPr lang="en-US" sz="1300" b="1" dirty="0">
                <a:solidFill>
                  <a:srgbClr val="2C3E7A"/>
                </a:solidFill>
                <a:latin typeface="Calibri" pitchFamily="34" charset="0"/>
                <a:ea typeface="Calibri" pitchFamily="34" charset="-122"/>
                <a:cs typeface="Calibri" pitchFamily="34" charset="-120"/>
              </a:rPr>
              <a:t>Step 1 — Load Data</a:t>
            </a:r>
            <a:endParaRPr lang="en-US" sz="1300" dirty="0"/>
          </a:p>
        </p:txBody>
      </p:sp>
      <p:sp>
        <p:nvSpPr>
          <p:cNvPr id="8" name="Text 6"/>
          <p:cNvSpPr/>
          <p:nvPr/>
        </p:nvSpPr>
        <p:spPr>
          <a:xfrm>
            <a:off x="457200" y="1078992"/>
            <a:ext cx="8229600" cy="43891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Loaded Wisconsin Breast Cancer dataset from sklearn.datasets.</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Converted to Pandas DataFrame for exploration.</a:t>
            </a:r>
            <a:endParaRPr lang="en-US" sz="1100" dirty="0"/>
          </a:p>
        </p:txBody>
      </p:sp>
      <p:sp>
        <p:nvSpPr>
          <p:cNvPr id="9" name="Shape 7"/>
          <p:cNvSpPr/>
          <p:nvPr/>
        </p:nvSpPr>
        <p:spPr>
          <a:xfrm>
            <a:off x="274320" y="1755648"/>
            <a:ext cx="54864" cy="777240"/>
          </a:xfrm>
          <a:prstGeom prst="rect">
            <a:avLst/>
          </a:prstGeom>
          <a:solidFill>
            <a:srgbClr val="4A90D9"/>
          </a:solidFill>
          <a:ln w="12700">
            <a:solidFill>
              <a:srgbClr val="4A90D9"/>
            </a:solidFill>
            <a:prstDash val="solid"/>
          </a:ln>
        </p:spPr>
      </p:sp>
      <p:sp>
        <p:nvSpPr>
          <p:cNvPr id="10" name="Text 8"/>
          <p:cNvSpPr/>
          <p:nvPr/>
        </p:nvSpPr>
        <p:spPr>
          <a:xfrm>
            <a:off x="457200" y="1773936"/>
            <a:ext cx="8229600" cy="292608"/>
          </a:xfrm>
          <a:prstGeom prst="rect">
            <a:avLst/>
          </a:prstGeom>
          <a:noFill/>
          <a:ln/>
        </p:spPr>
        <p:txBody>
          <a:bodyPr wrap="square" lIns="0" tIns="0" rIns="0" bIns="0" rtlCol="0" anchor="ctr"/>
          <a:lstStyle/>
          <a:p>
            <a:pPr indent="0" marL="0">
              <a:buNone/>
            </a:pPr>
            <a:r>
              <a:rPr lang="en-US" sz="1300" b="1" dirty="0">
                <a:solidFill>
                  <a:srgbClr val="2C3E7A"/>
                </a:solidFill>
                <a:latin typeface="Calibri" pitchFamily="34" charset="0"/>
                <a:ea typeface="Calibri" pitchFamily="34" charset="-122"/>
                <a:cs typeface="Calibri" pitchFamily="34" charset="-120"/>
              </a:rPr>
              <a:t>Step 2 — Check for Nulls</a:t>
            </a:r>
            <a:endParaRPr lang="en-US" sz="1300" dirty="0"/>
          </a:p>
        </p:txBody>
      </p:sp>
      <p:sp>
        <p:nvSpPr>
          <p:cNvPr id="11" name="Text 9"/>
          <p:cNvSpPr/>
          <p:nvPr/>
        </p:nvSpPr>
        <p:spPr>
          <a:xfrm>
            <a:off x="457200" y="2084832"/>
            <a:ext cx="8229600" cy="43891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No missing values found in the dataset.</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All 569 records are complete and usable.</a:t>
            </a:r>
            <a:endParaRPr lang="en-US" sz="1100" dirty="0"/>
          </a:p>
        </p:txBody>
      </p:sp>
      <p:sp>
        <p:nvSpPr>
          <p:cNvPr id="12" name="Shape 10"/>
          <p:cNvSpPr/>
          <p:nvPr/>
        </p:nvSpPr>
        <p:spPr>
          <a:xfrm>
            <a:off x="274320" y="2761488"/>
            <a:ext cx="54864" cy="777240"/>
          </a:xfrm>
          <a:prstGeom prst="rect">
            <a:avLst/>
          </a:prstGeom>
          <a:solidFill>
            <a:srgbClr val="4A90D9"/>
          </a:solidFill>
          <a:ln w="12700">
            <a:solidFill>
              <a:srgbClr val="4A90D9"/>
            </a:solidFill>
            <a:prstDash val="solid"/>
          </a:ln>
        </p:spPr>
      </p:sp>
      <p:sp>
        <p:nvSpPr>
          <p:cNvPr id="13" name="Text 11"/>
          <p:cNvSpPr/>
          <p:nvPr/>
        </p:nvSpPr>
        <p:spPr>
          <a:xfrm>
            <a:off x="457200" y="2779776"/>
            <a:ext cx="8229600" cy="292608"/>
          </a:xfrm>
          <a:prstGeom prst="rect">
            <a:avLst/>
          </a:prstGeom>
          <a:noFill/>
          <a:ln/>
        </p:spPr>
        <p:txBody>
          <a:bodyPr wrap="square" lIns="0" tIns="0" rIns="0" bIns="0" rtlCol="0" anchor="ctr"/>
          <a:lstStyle/>
          <a:p>
            <a:pPr indent="0" marL="0">
              <a:buNone/>
            </a:pPr>
            <a:r>
              <a:rPr lang="en-US" sz="1300" b="1" dirty="0">
                <a:solidFill>
                  <a:srgbClr val="2C3E7A"/>
                </a:solidFill>
                <a:latin typeface="Calibri" pitchFamily="34" charset="0"/>
                <a:ea typeface="Calibri" pitchFamily="34" charset="-122"/>
                <a:cs typeface="Calibri" pitchFamily="34" charset="-120"/>
              </a:rPr>
              <a:t>Step 3 — Train/Test Split</a:t>
            </a:r>
            <a:endParaRPr lang="en-US" sz="1300" dirty="0"/>
          </a:p>
        </p:txBody>
      </p:sp>
      <p:sp>
        <p:nvSpPr>
          <p:cNvPr id="14" name="Text 12"/>
          <p:cNvSpPr/>
          <p:nvPr/>
        </p:nvSpPr>
        <p:spPr>
          <a:xfrm>
            <a:off x="457200" y="3090672"/>
            <a:ext cx="8229600" cy="43891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Split 80% Training (455 samples) and 20% Test (114 samples).</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Used stratify=y to maintain class balance in both sets.</a:t>
            </a:r>
            <a:endParaRPr lang="en-US" sz="1100" dirty="0"/>
          </a:p>
        </p:txBody>
      </p:sp>
      <p:sp>
        <p:nvSpPr>
          <p:cNvPr id="15" name="Shape 13"/>
          <p:cNvSpPr/>
          <p:nvPr/>
        </p:nvSpPr>
        <p:spPr>
          <a:xfrm>
            <a:off x="274320" y="3767328"/>
            <a:ext cx="54864" cy="777240"/>
          </a:xfrm>
          <a:prstGeom prst="rect">
            <a:avLst/>
          </a:prstGeom>
          <a:solidFill>
            <a:srgbClr val="4A90D9"/>
          </a:solidFill>
          <a:ln w="12700">
            <a:solidFill>
              <a:srgbClr val="4A90D9"/>
            </a:solidFill>
            <a:prstDash val="solid"/>
          </a:ln>
        </p:spPr>
      </p:sp>
      <p:sp>
        <p:nvSpPr>
          <p:cNvPr id="16" name="Text 14"/>
          <p:cNvSpPr/>
          <p:nvPr/>
        </p:nvSpPr>
        <p:spPr>
          <a:xfrm>
            <a:off x="457200" y="3785616"/>
            <a:ext cx="8229600" cy="292608"/>
          </a:xfrm>
          <a:prstGeom prst="rect">
            <a:avLst/>
          </a:prstGeom>
          <a:noFill/>
          <a:ln/>
        </p:spPr>
        <p:txBody>
          <a:bodyPr wrap="square" lIns="0" tIns="0" rIns="0" bIns="0" rtlCol="0" anchor="ctr"/>
          <a:lstStyle/>
          <a:p>
            <a:pPr indent="0" marL="0">
              <a:buNone/>
            </a:pPr>
            <a:r>
              <a:rPr lang="en-US" sz="1300" b="1" dirty="0">
                <a:solidFill>
                  <a:srgbClr val="2C3E7A"/>
                </a:solidFill>
                <a:latin typeface="Calibri" pitchFamily="34" charset="0"/>
                <a:ea typeface="Calibri" pitchFamily="34" charset="-122"/>
                <a:cs typeface="Calibri" pitchFamily="34" charset="-120"/>
              </a:rPr>
              <a:t>Step 4 — Feature Scaling</a:t>
            </a:r>
            <a:endParaRPr lang="en-US" sz="1300" dirty="0"/>
          </a:p>
        </p:txBody>
      </p:sp>
      <p:sp>
        <p:nvSpPr>
          <p:cNvPr id="17" name="Text 15"/>
          <p:cNvSpPr/>
          <p:nvPr/>
        </p:nvSpPr>
        <p:spPr>
          <a:xfrm>
            <a:off x="457200" y="4096512"/>
            <a:ext cx="8229600" cy="438912"/>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Applied StandardScaler (mean=0, std=1) to all 30 features.</a:t>
            </a:r>
            <a:endParaRPr lang="en-US" sz="1100" dirty="0"/>
          </a:p>
          <a:p>
            <a:pPr indent="0" marL="0">
              <a:buNone/>
            </a:pPr>
            <a:r>
              <a:rPr lang="en-US" sz="1100" dirty="0">
                <a:solidFill>
                  <a:srgbClr val="2D2D2D"/>
                </a:solidFill>
                <a:latin typeface="Calibri" pitchFamily="34" charset="0"/>
                <a:ea typeface="Calibri" pitchFamily="34" charset="-122"/>
                <a:cs typeface="Calibri" pitchFamily="34" charset="-120"/>
              </a:rPr>
              <a:t>Scaler fitted only on training data to avoid data leakage.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Models Used</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Shape 4"/>
          <p:cNvSpPr/>
          <p:nvPr/>
        </p:nvSpPr>
        <p:spPr>
          <a:xfrm>
            <a:off x="274320" y="777240"/>
            <a:ext cx="8595360" cy="1234440"/>
          </a:xfrm>
          <a:prstGeom prst="rect">
            <a:avLst/>
          </a:prstGeom>
          <a:solidFill>
            <a:srgbClr val="F5F7FA"/>
          </a:solidFill>
          <a:ln w="19050">
            <a:solidFill>
              <a:srgbClr val="2C3E7A"/>
            </a:solidFill>
            <a:prstDash val="solid"/>
          </a:ln>
        </p:spPr>
      </p:sp>
      <p:sp>
        <p:nvSpPr>
          <p:cNvPr id="7" name="Shape 5"/>
          <p:cNvSpPr/>
          <p:nvPr/>
        </p:nvSpPr>
        <p:spPr>
          <a:xfrm>
            <a:off x="274320" y="777240"/>
            <a:ext cx="91440" cy="1234440"/>
          </a:xfrm>
          <a:prstGeom prst="rect">
            <a:avLst/>
          </a:prstGeom>
          <a:solidFill>
            <a:srgbClr val="2C3E7A"/>
          </a:solidFill>
          <a:ln w="12700">
            <a:solidFill>
              <a:srgbClr val="2C3E7A"/>
            </a:solidFill>
            <a:prstDash val="solid"/>
          </a:ln>
        </p:spPr>
      </p:sp>
      <p:sp>
        <p:nvSpPr>
          <p:cNvPr id="8" name="Text 6"/>
          <p:cNvSpPr/>
          <p:nvPr/>
        </p:nvSpPr>
        <p:spPr>
          <a:xfrm>
            <a:off x="502920" y="832104"/>
            <a:ext cx="8229600" cy="292608"/>
          </a:xfrm>
          <a:prstGeom prst="rect">
            <a:avLst/>
          </a:prstGeom>
          <a:noFill/>
          <a:ln/>
        </p:spPr>
        <p:txBody>
          <a:bodyPr wrap="square" lIns="0" tIns="0" rIns="0" bIns="0" rtlCol="0" anchor="ctr"/>
          <a:lstStyle/>
          <a:p>
            <a:pPr indent="0" marL="0">
              <a:buNone/>
            </a:pPr>
            <a:r>
              <a:rPr lang="en-US" sz="1300" b="1" dirty="0">
                <a:solidFill>
                  <a:srgbClr val="2C3E7A"/>
                </a:solidFill>
                <a:latin typeface="Calibri" pitchFamily="34" charset="0"/>
                <a:ea typeface="Calibri" pitchFamily="34" charset="-122"/>
                <a:cs typeface="Calibri" pitchFamily="34" charset="-120"/>
              </a:rPr>
              <a:t>Logistic Regression</a:t>
            </a:r>
            <a:endParaRPr lang="en-US" sz="1300" dirty="0"/>
          </a:p>
        </p:txBody>
      </p:sp>
      <p:sp>
        <p:nvSpPr>
          <p:cNvPr id="9" name="Text 7"/>
          <p:cNvSpPr/>
          <p:nvPr/>
        </p:nvSpPr>
        <p:spPr>
          <a:xfrm>
            <a:off x="502920" y="1143000"/>
            <a:ext cx="8229600" cy="256032"/>
          </a:xfrm>
          <a:prstGeom prst="rect">
            <a:avLst/>
          </a:prstGeom>
          <a:noFill/>
          <a:ln/>
        </p:spPr>
        <p:txBody>
          <a:bodyPr wrap="square" lIns="0" tIns="0" rIns="0" bIns="0" rtlCol="0" anchor="ctr"/>
          <a:lstStyle/>
          <a:p>
            <a:pPr indent="0" marL="0">
              <a:buNone/>
            </a:pPr>
            <a:r>
              <a:rPr lang="en-US" sz="1100" dirty="0">
                <a:solidFill>
                  <a:srgbClr val="7F8C8D"/>
                </a:solidFill>
                <a:latin typeface="Calibri" pitchFamily="34" charset="0"/>
                <a:ea typeface="Calibri" pitchFamily="34" charset="-122"/>
                <a:cs typeface="Calibri" pitchFamily="34" charset="-120"/>
              </a:rPr>
              <a:t>Parameters:  C=1.0, max_iter=1000, solver=lbfgs</a:t>
            </a:r>
            <a:endParaRPr lang="en-US" sz="1100" dirty="0"/>
          </a:p>
        </p:txBody>
      </p:sp>
      <p:sp>
        <p:nvSpPr>
          <p:cNvPr id="10" name="Text 8"/>
          <p:cNvSpPr/>
          <p:nvPr/>
        </p:nvSpPr>
        <p:spPr>
          <a:xfrm>
            <a:off x="502920" y="1417320"/>
            <a:ext cx="8229600" cy="45720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Why chosen:  Simple, interpretable, works well on linearly separable data. Good baseline model.</a:t>
            </a:r>
            <a:endParaRPr lang="en-US" sz="1100" dirty="0"/>
          </a:p>
        </p:txBody>
      </p:sp>
      <p:sp>
        <p:nvSpPr>
          <p:cNvPr id="11" name="Shape 9"/>
          <p:cNvSpPr/>
          <p:nvPr/>
        </p:nvSpPr>
        <p:spPr>
          <a:xfrm>
            <a:off x="274320" y="2148840"/>
            <a:ext cx="8595360" cy="1234440"/>
          </a:xfrm>
          <a:prstGeom prst="rect">
            <a:avLst/>
          </a:prstGeom>
          <a:solidFill>
            <a:srgbClr val="F5F7FA"/>
          </a:solidFill>
          <a:ln w="19050">
            <a:solidFill>
              <a:srgbClr val="4A90D9"/>
            </a:solidFill>
            <a:prstDash val="solid"/>
          </a:ln>
        </p:spPr>
      </p:sp>
      <p:sp>
        <p:nvSpPr>
          <p:cNvPr id="12" name="Shape 10"/>
          <p:cNvSpPr/>
          <p:nvPr/>
        </p:nvSpPr>
        <p:spPr>
          <a:xfrm>
            <a:off x="274320" y="2148840"/>
            <a:ext cx="91440" cy="1234440"/>
          </a:xfrm>
          <a:prstGeom prst="rect">
            <a:avLst/>
          </a:prstGeom>
          <a:solidFill>
            <a:srgbClr val="4A90D9"/>
          </a:solidFill>
          <a:ln w="12700">
            <a:solidFill>
              <a:srgbClr val="4A90D9"/>
            </a:solidFill>
            <a:prstDash val="solid"/>
          </a:ln>
        </p:spPr>
      </p:sp>
      <p:sp>
        <p:nvSpPr>
          <p:cNvPr id="13" name="Text 11"/>
          <p:cNvSpPr/>
          <p:nvPr/>
        </p:nvSpPr>
        <p:spPr>
          <a:xfrm>
            <a:off x="502920" y="2203704"/>
            <a:ext cx="8229600" cy="292608"/>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Support Vector Machine (SVM)</a:t>
            </a:r>
            <a:endParaRPr lang="en-US" sz="1300" dirty="0"/>
          </a:p>
        </p:txBody>
      </p:sp>
      <p:sp>
        <p:nvSpPr>
          <p:cNvPr id="14" name="Text 12"/>
          <p:cNvSpPr/>
          <p:nvPr/>
        </p:nvSpPr>
        <p:spPr>
          <a:xfrm>
            <a:off x="502920" y="2514600"/>
            <a:ext cx="8229600" cy="256032"/>
          </a:xfrm>
          <a:prstGeom prst="rect">
            <a:avLst/>
          </a:prstGeom>
          <a:noFill/>
          <a:ln/>
        </p:spPr>
        <p:txBody>
          <a:bodyPr wrap="square" lIns="0" tIns="0" rIns="0" bIns="0" rtlCol="0" anchor="ctr"/>
          <a:lstStyle/>
          <a:p>
            <a:pPr indent="0" marL="0">
              <a:buNone/>
            </a:pPr>
            <a:r>
              <a:rPr lang="en-US" sz="1100" dirty="0">
                <a:solidFill>
                  <a:srgbClr val="7F8C8D"/>
                </a:solidFill>
                <a:latin typeface="Calibri" pitchFamily="34" charset="0"/>
                <a:ea typeface="Calibri" pitchFamily="34" charset="-122"/>
                <a:cs typeface="Calibri" pitchFamily="34" charset="-120"/>
              </a:rPr>
              <a:t>Parameters:  kernel=rbf, C=10, gamma=scale, probability=True</a:t>
            </a:r>
            <a:endParaRPr lang="en-US" sz="1100" dirty="0"/>
          </a:p>
        </p:txBody>
      </p:sp>
      <p:sp>
        <p:nvSpPr>
          <p:cNvPr id="15" name="Text 13"/>
          <p:cNvSpPr/>
          <p:nvPr/>
        </p:nvSpPr>
        <p:spPr>
          <a:xfrm>
            <a:off x="502920" y="2788920"/>
            <a:ext cx="8229600" cy="45720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Why chosen:  Effective in high-dimensional spaces. RBF kernel handles non-linear boundaries well.</a:t>
            </a:r>
            <a:endParaRPr lang="en-US" sz="1100" dirty="0"/>
          </a:p>
        </p:txBody>
      </p:sp>
      <p:sp>
        <p:nvSpPr>
          <p:cNvPr id="16" name="Shape 14"/>
          <p:cNvSpPr/>
          <p:nvPr/>
        </p:nvSpPr>
        <p:spPr>
          <a:xfrm>
            <a:off x="274320" y="3520440"/>
            <a:ext cx="8595360" cy="1234440"/>
          </a:xfrm>
          <a:prstGeom prst="rect">
            <a:avLst/>
          </a:prstGeom>
          <a:solidFill>
            <a:srgbClr val="F5F7FA"/>
          </a:solidFill>
          <a:ln w="19050">
            <a:solidFill>
              <a:srgbClr val="27AE60"/>
            </a:solidFill>
            <a:prstDash val="solid"/>
          </a:ln>
        </p:spPr>
      </p:sp>
      <p:sp>
        <p:nvSpPr>
          <p:cNvPr id="17" name="Shape 15"/>
          <p:cNvSpPr/>
          <p:nvPr/>
        </p:nvSpPr>
        <p:spPr>
          <a:xfrm>
            <a:off x="274320" y="3520440"/>
            <a:ext cx="91440" cy="1234440"/>
          </a:xfrm>
          <a:prstGeom prst="rect">
            <a:avLst/>
          </a:prstGeom>
          <a:solidFill>
            <a:srgbClr val="27AE60"/>
          </a:solidFill>
          <a:ln w="12700">
            <a:solidFill>
              <a:srgbClr val="27AE60"/>
            </a:solidFill>
            <a:prstDash val="solid"/>
          </a:ln>
        </p:spPr>
      </p:sp>
      <p:sp>
        <p:nvSpPr>
          <p:cNvPr id="18" name="Text 16"/>
          <p:cNvSpPr/>
          <p:nvPr/>
        </p:nvSpPr>
        <p:spPr>
          <a:xfrm>
            <a:off x="502920" y="3575304"/>
            <a:ext cx="8229600" cy="292608"/>
          </a:xfrm>
          <a:prstGeom prst="rect">
            <a:avLst/>
          </a:prstGeom>
          <a:noFill/>
          <a:ln/>
        </p:spPr>
        <p:txBody>
          <a:bodyPr wrap="square" lIns="0" tIns="0" rIns="0" bIns="0" rtlCol="0" anchor="ctr"/>
          <a:lstStyle/>
          <a:p>
            <a:pPr indent="0" marL="0">
              <a:buNone/>
            </a:pPr>
            <a:r>
              <a:rPr lang="en-US" sz="1300" b="1" dirty="0">
                <a:solidFill>
                  <a:srgbClr val="27AE60"/>
                </a:solidFill>
                <a:latin typeface="Calibri" pitchFamily="34" charset="0"/>
                <a:ea typeface="Calibri" pitchFamily="34" charset="-122"/>
                <a:cs typeface="Calibri" pitchFamily="34" charset="-120"/>
              </a:rPr>
              <a:t>Random Forest Classifier</a:t>
            </a:r>
            <a:endParaRPr lang="en-US" sz="1300" dirty="0"/>
          </a:p>
        </p:txBody>
      </p:sp>
      <p:sp>
        <p:nvSpPr>
          <p:cNvPr id="19" name="Text 17"/>
          <p:cNvSpPr/>
          <p:nvPr/>
        </p:nvSpPr>
        <p:spPr>
          <a:xfrm>
            <a:off x="502920" y="3886200"/>
            <a:ext cx="8229600" cy="256032"/>
          </a:xfrm>
          <a:prstGeom prst="rect">
            <a:avLst/>
          </a:prstGeom>
          <a:noFill/>
          <a:ln/>
        </p:spPr>
        <p:txBody>
          <a:bodyPr wrap="square" lIns="0" tIns="0" rIns="0" bIns="0" rtlCol="0" anchor="ctr"/>
          <a:lstStyle/>
          <a:p>
            <a:pPr indent="0" marL="0">
              <a:buNone/>
            </a:pPr>
            <a:r>
              <a:rPr lang="en-US" sz="1100" dirty="0">
                <a:solidFill>
                  <a:srgbClr val="7F8C8D"/>
                </a:solidFill>
                <a:latin typeface="Calibri" pitchFamily="34" charset="0"/>
                <a:ea typeface="Calibri" pitchFamily="34" charset="-122"/>
                <a:cs typeface="Calibri" pitchFamily="34" charset="-120"/>
              </a:rPr>
              <a:t>Parameters:  n_estimators=200, random_state=42, n_jobs=-1</a:t>
            </a:r>
            <a:endParaRPr lang="en-US" sz="1100" dirty="0"/>
          </a:p>
        </p:txBody>
      </p:sp>
      <p:sp>
        <p:nvSpPr>
          <p:cNvPr id="20" name="Text 18"/>
          <p:cNvSpPr/>
          <p:nvPr/>
        </p:nvSpPr>
        <p:spPr>
          <a:xfrm>
            <a:off x="502920" y="4160520"/>
            <a:ext cx="8229600" cy="45720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Why chosen:  Ensemble of decision trees. Reduces overfitting, provides feature importance.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Training &amp; Evaluation Methodology</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77240"/>
            <a:ext cx="8412480" cy="68580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All three models were trained on the scaled training set (455 samples) and evaluated on the held-out test set (114 samples). A 5-Fold Stratified Cross-Validation was also performed on the full dataset to check for overfitting.</a:t>
            </a:r>
            <a:endParaRPr lang="en-US" sz="1200" dirty="0"/>
          </a:p>
        </p:txBody>
      </p:sp>
      <p:sp>
        <p:nvSpPr>
          <p:cNvPr id="7" name="Text 5"/>
          <p:cNvSpPr/>
          <p:nvPr/>
        </p:nvSpPr>
        <p:spPr>
          <a:xfrm>
            <a:off x="365760" y="1508760"/>
            <a:ext cx="4572000" cy="320040"/>
          </a:xfrm>
          <a:prstGeom prst="rect">
            <a:avLst/>
          </a:prstGeom>
          <a:noFill/>
          <a:ln/>
        </p:spPr>
        <p:txBody>
          <a:bodyPr wrap="square" lIns="0" tIns="0" rIns="0" bIns="0" rtlCol="0" anchor="ctr"/>
          <a:lstStyle/>
          <a:p>
            <a:pPr indent="0" marL="0">
              <a:buNone/>
            </a:pPr>
            <a:r>
              <a:rPr lang="en-US" sz="1400" b="1" dirty="0">
                <a:solidFill>
                  <a:srgbClr val="2C3E7A"/>
                </a:solidFill>
                <a:latin typeface="Calibri" pitchFamily="34" charset="0"/>
                <a:ea typeface="Calibri" pitchFamily="34" charset="-122"/>
                <a:cs typeface="Calibri" pitchFamily="34" charset="-120"/>
              </a:rPr>
              <a:t>Metrics Evaluated:</a:t>
            </a:r>
            <a:endParaRPr lang="en-US" sz="1400" dirty="0"/>
          </a:p>
        </p:txBody>
      </p:sp>
      <p:sp>
        <p:nvSpPr>
          <p:cNvPr id="8" name="Text 6"/>
          <p:cNvSpPr/>
          <p:nvPr/>
        </p:nvSpPr>
        <p:spPr>
          <a:xfrm>
            <a:off x="457200" y="1874520"/>
            <a:ext cx="2377440" cy="384048"/>
          </a:xfrm>
          <a:prstGeom prst="rect">
            <a:avLst/>
          </a:prstGeom>
          <a:noFill/>
          <a:ln/>
        </p:spPr>
        <p:txBody>
          <a:bodyPr wrap="square" lIns="0" tIns="0" rIns="0" bIns="0" rtlCol="0" anchor="ctr"/>
          <a:lstStyle/>
          <a:p>
            <a:pPr indent="0" marL="0">
              <a:buNone/>
            </a:pPr>
            <a:r>
              <a:rPr lang="en-US" sz="1100" b="1" dirty="0">
                <a:solidFill>
                  <a:srgbClr val="2C3E7A"/>
                </a:solidFill>
                <a:latin typeface="Calibri" pitchFamily="34" charset="0"/>
                <a:ea typeface="Calibri" pitchFamily="34" charset="-122"/>
                <a:cs typeface="Calibri" pitchFamily="34" charset="-120"/>
              </a:rPr>
              <a:t>Accuracy:</a:t>
            </a:r>
            <a:endParaRPr lang="en-US" sz="1100" dirty="0"/>
          </a:p>
        </p:txBody>
      </p:sp>
      <p:sp>
        <p:nvSpPr>
          <p:cNvPr id="9" name="Text 7"/>
          <p:cNvSpPr/>
          <p:nvPr/>
        </p:nvSpPr>
        <p:spPr>
          <a:xfrm>
            <a:off x="2834640" y="1874520"/>
            <a:ext cx="5943600" cy="384048"/>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Overall correct predictions out of total predictions</a:t>
            </a:r>
            <a:endParaRPr lang="en-US" sz="1100" dirty="0"/>
          </a:p>
        </p:txBody>
      </p:sp>
      <p:sp>
        <p:nvSpPr>
          <p:cNvPr id="10" name="Text 8"/>
          <p:cNvSpPr/>
          <p:nvPr/>
        </p:nvSpPr>
        <p:spPr>
          <a:xfrm>
            <a:off x="457200" y="2331720"/>
            <a:ext cx="2377440" cy="384048"/>
          </a:xfrm>
          <a:prstGeom prst="rect">
            <a:avLst/>
          </a:prstGeom>
          <a:noFill/>
          <a:ln/>
        </p:spPr>
        <p:txBody>
          <a:bodyPr wrap="square" lIns="0" tIns="0" rIns="0" bIns="0" rtlCol="0" anchor="ctr"/>
          <a:lstStyle/>
          <a:p>
            <a:pPr indent="0" marL="0">
              <a:buNone/>
            </a:pPr>
            <a:r>
              <a:rPr lang="en-US" sz="1100" b="1" dirty="0">
                <a:solidFill>
                  <a:srgbClr val="2C3E7A"/>
                </a:solidFill>
                <a:latin typeface="Calibri" pitchFamily="34" charset="0"/>
                <a:ea typeface="Calibri" pitchFamily="34" charset="-122"/>
                <a:cs typeface="Calibri" pitchFamily="34" charset="-120"/>
              </a:rPr>
              <a:t>Precision:</a:t>
            </a:r>
            <a:endParaRPr lang="en-US" sz="1100" dirty="0"/>
          </a:p>
        </p:txBody>
      </p:sp>
      <p:sp>
        <p:nvSpPr>
          <p:cNvPr id="11" name="Text 9"/>
          <p:cNvSpPr/>
          <p:nvPr/>
        </p:nvSpPr>
        <p:spPr>
          <a:xfrm>
            <a:off x="2834640" y="2331720"/>
            <a:ext cx="5943600" cy="384048"/>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Out of predicted malignant, how many were actually malignant</a:t>
            </a:r>
            <a:endParaRPr lang="en-US" sz="1100" dirty="0"/>
          </a:p>
        </p:txBody>
      </p:sp>
      <p:sp>
        <p:nvSpPr>
          <p:cNvPr id="12" name="Text 10"/>
          <p:cNvSpPr/>
          <p:nvPr/>
        </p:nvSpPr>
        <p:spPr>
          <a:xfrm>
            <a:off x="457200" y="2788920"/>
            <a:ext cx="2377440" cy="384048"/>
          </a:xfrm>
          <a:prstGeom prst="rect">
            <a:avLst/>
          </a:prstGeom>
          <a:noFill/>
          <a:ln/>
        </p:spPr>
        <p:txBody>
          <a:bodyPr wrap="square" lIns="0" tIns="0" rIns="0" bIns="0" rtlCol="0" anchor="ctr"/>
          <a:lstStyle/>
          <a:p>
            <a:pPr indent="0" marL="0">
              <a:buNone/>
            </a:pPr>
            <a:r>
              <a:rPr lang="en-US" sz="1100" b="1" dirty="0">
                <a:solidFill>
                  <a:srgbClr val="2C3E7A"/>
                </a:solidFill>
                <a:latin typeface="Calibri" pitchFamily="34" charset="0"/>
                <a:ea typeface="Calibri" pitchFamily="34" charset="-122"/>
                <a:cs typeface="Calibri" pitchFamily="34" charset="-120"/>
              </a:rPr>
              <a:t>Recall (Sensitivity):</a:t>
            </a:r>
            <a:endParaRPr lang="en-US" sz="1100" dirty="0"/>
          </a:p>
        </p:txBody>
      </p:sp>
      <p:sp>
        <p:nvSpPr>
          <p:cNvPr id="13" name="Text 11"/>
          <p:cNvSpPr/>
          <p:nvPr/>
        </p:nvSpPr>
        <p:spPr>
          <a:xfrm>
            <a:off x="2834640" y="2788920"/>
            <a:ext cx="5943600" cy="384048"/>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Out of actual malignant cases, how many were detected (most critical)</a:t>
            </a:r>
            <a:endParaRPr lang="en-US" sz="1100" dirty="0"/>
          </a:p>
        </p:txBody>
      </p:sp>
      <p:sp>
        <p:nvSpPr>
          <p:cNvPr id="14" name="Text 12"/>
          <p:cNvSpPr/>
          <p:nvPr/>
        </p:nvSpPr>
        <p:spPr>
          <a:xfrm>
            <a:off x="457200" y="3246120"/>
            <a:ext cx="2377440" cy="384048"/>
          </a:xfrm>
          <a:prstGeom prst="rect">
            <a:avLst/>
          </a:prstGeom>
          <a:noFill/>
          <a:ln/>
        </p:spPr>
        <p:txBody>
          <a:bodyPr wrap="square" lIns="0" tIns="0" rIns="0" bIns="0" rtlCol="0" anchor="ctr"/>
          <a:lstStyle/>
          <a:p>
            <a:pPr indent="0" marL="0">
              <a:buNone/>
            </a:pPr>
            <a:r>
              <a:rPr lang="en-US" sz="1100" b="1" dirty="0">
                <a:solidFill>
                  <a:srgbClr val="2C3E7A"/>
                </a:solidFill>
                <a:latin typeface="Calibri" pitchFamily="34" charset="0"/>
                <a:ea typeface="Calibri" pitchFamily="34" charset="-122"/>
                <a:cs typeface="Calibri" pitchFamily="34" charset="-120"/>
              </a:rPr>
              <a:t>F1-Score:</a:t>
            </a:r>
            <a:endParaRPr lang="en-US" sz="1100" dirty="0"/>
          </a:p>
        </p:txBody>
      </p:sp>
      <p:sp>
        <p:nvSpPr>
          <p:cNvPr id="15" name="Text 13"/>
          <p:cNvSpPr/>
          <p:nvPr/>
        </p:nvSpPr>
        <p:spPr>
          <a:xfrm>
            <a:off x="2834640" y="3246120"/>
            <a:ext cx="5943600" cy="384048"/>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Harmonic mean of Precision and Recall</a:t>
            </a:r>
            <a:endParaRPr lang="en-US" sz="1100" dirty="0"/>
          </a:p>
        </p:txBody>
      </p:sp>
      <p:sp>
        <p:nvSpPr>
          <p:cNvPr id="16" name="Text 14"/>
          <p:cNvSpPr/>
          <p:nvPr/>
        </p:nvSpPr>
        <p:spPr>
          <a:xfrm>
            <a:off x="457200" y="3703320"/>
            <a:ext cx="2377440" cy="384048"/>
          </a:xfrm>
          <a:prstGeom prst="rect">
            <a:avLst/>
          </a:prstGeom>
          <a:noFill/>
          <a:ln/>
        </p:spPr>
        <p:txBody>
          <a:bodyPr wrap="square" lIns="0" tIns="0" rIns="0" bIns="0" rtlCol="0" anchor="ctr"/>
          <a:lstStyle/>
          <a:p>
            <a:pPr indent="0" marL="0">
              <a:buNone/>
            </a:pPr>
            <a:r>
              <a:rPr lang="en-US" sz="1100" b="1" dirty="0">
                <a:solidFill>
                  <a:srgbClr val="2C3E7A"/>
                </a:solidFill>
                <a:latin typeface="Calibri" pitchFamily="34" charset="0"/>
                <a:ea typeface="Calibri" pitchFamily="34" charset="-122"/>
                <a:cs typeface="Calibri" pitchFamily="34" charset="-120"/>
              </a:rPr>
              <a:t>ROC-AUC:</a:t>
            </a:r>
            <a:endParaRPr lang="en-US" sz="1100" dirty="0"/>
          </a:p>
        </p:txBody>
      </p:sp>
      <p:sp>
        <p:nvSpPr>
          <p:cNvPr id="17" name="Text 15"/>
          <p:cNvSpPr/>
          <p:nvPr/>
        </p:nvSpPr>
        <p:spPr>
          <a:xfrm>
            <a:off x="2834640" y="3703320"/>
            <a:ext cx="5943600" cy="384048"/>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Area under the ROC curve — overall model discriminative ability</a:t>
            </a:r>
            <a:endParaRPr lang="en-US" sz="1100" dirty="0"/>
          </a:p>
        </p:txBody>
      </p:sp>
      <p:sp>
        <p:nvSpPr>
          <p:cNvPr id="18" name="Text 16"/>
          <p:cNvSpPr/>
          <p:nvPr/>
        </p:nvSpPr>
        <p:spPr>
          <a:xfrm>
            <a:off x="457200" y="4160520"/>
            <a:ext cx="2377440" cy="384048"/>
          </a:xfrm>
          <a:prstGeom prst="rect">
            <a:avLst/>
          </a:prstGeom>
          <a:noFill/>
          <a:ln/>
        </p:spPr>
        <p:txBody>
          <a:bodyPr wrap="square" lIns="0" tIns="0" rIns="0" bIns="0" rtlCol="0" anchor="ctr"/>
          <a:lstStyle/>
          <a:p>
            <a:pPr indent="0" marL="0">
              <a:buNone/>
            </a:pPr>
            <a:r>
              <a:rPr lang="en-US" sz="1100" b="1" dirty="0">
                <a:solidFill>
                  <a:srgbClr val="2C3E7A"/>
                </a:solidFill>
                <a:latin typeface="Calibri" pitchFamily="34" charset="0"/>
                <a:ea typeface="Calibri" pitchFamily="34" charset="-122"/>
                <a:cs typeface="Calibri" pitchFamily="34" charset="-120"/>
              </a:rPr>
              <a:t>Confusion Matrix:</a:t>
            </a:r>
            <a:endParaRPr lang="en-US" sz="1100" dirty="0"/>
          </a:p>
        </p:txBody>
      </p:sp>
      <p:sp>
        <p:nvSpPr>
          <p:cNvPr id="19" name="Text 17"/>
          <p:cNvSpPr/>
          <p:nvPr/>
        </p:nvSpPr>
        <p:spPr>
          <a:xfrm>
            <a:off x="2834640" y="4160520"/>
            <a:ext cx="5943600" cy="384048"/>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Shows True Positives, True Negatives, False Positives, False Negatives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Results Comparison</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2286000"/>
                <a:gridCol w="1097280"/>
                <a:gridCol w="1097280"/>
                <a:gridCol w="1097280"/>
                <a:gridCol w="1097280"/>
                <a:gridCol w="1097280"/>
                <a:gridCol w="914400"/>
              </a:tblGrid>
              <a:tr h="43891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F1-Score</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False Neg.</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r>
              <a:tr h="438912">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98.25%</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98.61%</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98.61%</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98.61%</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99.54%</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r>
              <a:tr h="438912">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SVM (RBF)</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97.37%</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98.59%</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97.22%</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97.90%</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99.57%</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r>
              <a:tr h="438912">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95.61%</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95.89%</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97.22%</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96.55%</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99.32%</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r>
              <a:tr h="438912">
                <a:tc>
                  <a:txBody>
                    <a:bodyPr/>
                    <a:lstStyle/>
                    <a:p>
                      <a:pPr algn="ctr" indent="0" marL="0">
                        <a:buNone/>
                      </a:pPr>
                      <a:r>
                        <a:rPr lang="en-US" sz="1100" b="1" dirty="0">
                          <a:solidFill>
                            <a:srgbClr val="27AE60"/>
                          </a:solidFill>
                          <a:latin typeface="Calibri" pitchFamily="34" charset="0"/>
                          <a:ea typeface="Calibri" pitchFamily="34" charset="-122"/>
                          <a:cs typeface="Calibri" pitchFamily="34" charset="-120"/>
                        </a:rPr>
                        <a:t>RF (Optimised)</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27AE60"/>
                          </a:solidFill>
                          <a:latin typeface="Calibri" pitchFamily="34" charset="0"/>
                          <a:ea typeface="Calibri" pitchFamily="34" charset="-122"/>
                          <a:cs typeface="Calibri" pitchFamily="34" charset="-120"/>
                        </a:rPr>
                        <a:t>96.49%</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27AE60"/>
                          </a:solidFill>
                          <a:latin typeface="Calibri" pitchFamily="34" charset="0"/>
                          <a:ea typeface="Calibri" pitchFamily="34" charset="-122"/>
                          <a:cs typeface="Calibri" pitchFamily="34" charset="-120"/>
                        </a:rPr>
                        <a:t>Higher</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2D2D2D"/>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c>
                  <a:txBody>
                    <a:bodyPr/>
                    <a:lstStyle/>
                    <a:p>
                      <a:pPr algn="ctr" indent="0" marL="0">
                        <a:buNone/>
                      </a:pPr>
                      <a:r>
                        <a:rPr lang="en-US" sz="1100" b="1" dirty="0">
                          <a:solidFill>
                            <a:srgbClr val="27AE60"/>
                          </a:solidFill>
                          <a:latin typeface="Calibri" pitchFamily="34" charset="0"/>
                          <a:ea typeface="Calibri" pitchFamily="34" charset="-122"/>
                          <a:cs typeface="Calibri" pitchFamily="34" charset="-120"/>
                        </a:rPr>
                        <a:t>↓ 18% FN</a:t>
                      </a:r>
                      <a:endParaRPr lang="en-US" sz="1100" dirty="0">
                        <a:latin typeface="Calibri" charset="0"/>
                        <a:ea typeface="Calibri" charset="0"/>
                        <a:cs typeface="Calibri" charset="0"/>
                      </a:endParaRPr>
                    </a:p>
                  </a:txBody>
                  <a:tcPr marL="50800" marR="50800" marT="50800" marB="50800" anchor="ctr">
                    <a:lnL w="12700" cap="flat" cmpd="sng" algn="ctr">
                      <a:solidFill>
                        <a:srgbClr val="D5D8DC"/>
                      </a:solidFill>
                      <a:prstDash val="solid"/>
                      <a:round/>
                      <a:headEnd type="none" w="med" len="med"/>
                      <a:tailEnd type="none" w="med" len="med"/>
                    </a:lnL>
                    <a:lnR w="12700" cap="flat" cmpd="sng" algn="ctr">
                      <a:solidFill>
                        <a:srgbClr val="D5D8DC"/>
                      </a:solidFill>
                      <a:prstDash val="solid"/>
                      <a:round/>
                      <a:headEnd type="none" w="med" len="med"/>
                      <a:tailEnd type="none" w="med" len="med"/>
                    </a:lnR>
                    <a:lnT w="12700" cap="flat" cmpd="sng" algn="ctr">
                      <a:solidFill>
                        <a:srgbClr val="D5D8DC"/>
                      </a:solidFill>
                      <a:prstDash val="solid"/>
                      <a:round/>
                      <a:headEnd type="none" w="med" len="med"/>
                      <a:tailEnd type="none" w="med" len="med"/>
                    </a:lnT>
                    <a:lnB w="12700" cap="flat" cmpd="sng" algn="ctr">
                      <a:solidFill>
                        <a:srgbClr val="D5D8DC"/>
                      </a:solidFill>
                      <a:prstDash val="solid"/>
                      <a:round/>
                      <a:headEnd type="none" w="med" len="med"/>
                      <a:tailEnd type="none" w="med" len="med"/>
                    </a:lnB>
                    <a:solidFill>
                      <a:srgbClr val="F5F7FA"/>
                    </a:solidFill>
                  </a:tcPr>
                </a:tc>
              </a:tr>
            </a:tbl>
          </a:graphicData>
        </a:graphic>
      </p:graphicFrame>
      <p:sp>
        <p:nvSpPr>
          <p:cNvPr id="7" name="Shape 4"/>
          <p:cNvSpPr/>
          <p:nvPr/>
        </p:nvSpPr>
        <p:spPr>
          <a:xfrm>
            <a:off x="274320" y="777240"/>
            <a:ext cx="8595360" cy="438912"/>
          </a:xfrm>
          <a:prstGeom prst="rect">
            <a:avLst/>
          </a:prstGeom>
          <a:solidFill>
            <a:srgbClr val="2C3E7A"/>
          </a:solidFill>
          <a:ln w="12700">
            <a:solidFill>
              <a:srgbClr val="2C3E7A"/>
            </a:solidFill>
            <a:prstDash val="solid"/>
          </a:ln>
        </p:spPr>
      </p:sp>
      <p:sp>
        <p:nvSpPr>
          <p:cNvPr id="8" name="Text 5"/>
          <p:cNvSpPr/>
          <p:nvPr/>
        </p:nvSpPr>
        <p:spPr>
          <a:xfrm>
            <a:off x="274320" y="804672"/>
            <a:ext cx="22860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9" name="Text 6"/>
          <p:cNvSpPr/>
          <p:nvPr/>
        </p:nvSpPr>
        <p:spPr>
          <a:xfrm>
            <a:off x="2560320" y="804672"/>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p>
        </p:txBody>
      </p:sp>
      <p:sp>
        <p:nvSpPr>
          <p:cNvPr id="10" name="Text 7"/>
          <p:cNvSpPr/>
          <p:nvPr/>
        </p:nvSpPr>
        <p:spPr>
          <a:xfrm>
            <a:off x="3657600" y="804672"/>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p>
        </p:txBody>
      </p:sp>
      <p:sp>
        <p:nvSpPr>
          <p:cNvPr id="11" name="Text 8"/>
          <p:cNvSpPr/>
          <p:nvPr/>
        </p:nvSpPr>
        <p:spPr>
          <a:xfrm>
            <a:off x="4754880" y="804672"/>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p>
        </p:txBody>
      </p:sp>
      <p:sp>
        <p:nvSpPr>
          <p:cNvPr id="12" name="Text 9"/>
          <p:cNvSpPr/>
          <p:nvPr/>
        </p:nvSpPr>
        <p:spPr>
          <a:xfrm>
            <a:off x="5852160" y="804672"/>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F1-Score</a:t>
            </a:r>
            <a:endParaRPr lang="en-US" sz="1100" dirty="0"/>
          </a:p>
        </p:txBody>
      </p:sp>
      <p:sp>
        <p:nvSpPr>
          <p:cNvPr id="13" name="Text 10"/>
          <p:cNvSpPr/>
          <p:nvPr/>
        </p:nvSpPr>
        <p:spPr>
          <a:xfrm>
            <a:off x="6949440" y="804672"/>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ROC-AUC</a:t>
            </a:r>
            <a:endParaRPr lang="en-US" sz="1100" dirty="0"/>
          </a:p>
        </p:txBody>
      </p:sp>
      <p:sp>
        <p:nvSpPr>
          <p:cNvPr id="14" name="Text 11"/>
          <p:cNvSpPr/>
          <p:nvPr/>
        </p:nvSpPr>
        <p:spPr>
          <a:xfrm>
            <a:off x="8046720" y="804672"/>
            <a:ext cx="8229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False Neg.</a:t>
            </a:r>
            <a:endParaRPr lang="en-US" sz="1100" dirty="0"/>
          </a:p>
        </p:txBody>
      </p:sp>
      <p:sp>
        <p:nvSpPr>
          <p:cNvPr id="15" name="Text 12"/>
          <p:cNvSpPr/>
          <p:nvPr/>
        </p:nvSpPr>
        <p:spPr>
          <a:xfrm>
            <a:off x="365760" y="3108960"/>
            <a:ext cx="8412480" cy="320040"/>
          </a:xfrm>
          <a:prstGeom prst="rect">
            <a:avLst/>
          </a:prstGeom>
          <a:noFill/>
          <a:ln/>
        </p:spPr>
        <p:txBody>
          <a:bodyPr wrap="square" lIns="0" tIns="0" rIns="0" bIns="0" rtlCol="0" anchor="ctr"/>
          <a:lstStyle/>
          <a:p>
            <a:pPr indent="0" marL="0">
              <a:buNone/>
            </a:pPr>
            <a:r>
              <a:rPr lang="en-US" sz="1100" i="1" dirty="0">
                <a:solidFill>
                  <a:srgbClr val="7F8C8D"/>
                </a:solidFill>
                <a:latin typeface="Calibri" pitchFamily="34" charset="0"/>
                <a:ea typeface="Calibri" pitchFamily="34" charset="-122"/>
                <a:cs typeface="Calibri" pitchFamily="34" charset="-120"/>
              </a:rPr>
              <a:t>* Logistic Regression achieved the highest accuracy (98.25%). All models exceeded 95% accuracy on 114 test samples.</a:t>
            </a:r>
            <a:endParaRPr lang="en-US" sz="1100" dirty="0"/>
          </a:p>
        </p:txBody>
      </p:sp>
      <p:pic>
        <p:nvPicPr>
          <p:cNvPr id="16" name="Image 0" descr="/home/claude/breast_cancer_project/charts/02_model_comparison.png">    </p:cNvPr>
          <p:cNvPicPr>
            <a:picLocks noChangeAspect="1"/>
          </p:cNvPicPr>
          <p:nvPr/>
        </p:nvPicPr>
        <p:blipFill>
          <a:blip r:embed="rId1"/>
          <a:stretch>
            <a:fillRect/>
          </a:stretch>
        </p:blipFill>
        <p:spPr>
          <a:xfrm>
            <a:off x="182880" y="3429000"/>
            <a:ext cx="8778240" cy="1417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Confusion Matrices</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31520"/>
            <a:ext cx="8412480" cy="5943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Each cell shows the number of predictions. Diagonal = correct predictions. Off-diagonal = errors. False Negatives (bottom-left) are most critical in cancer detection — a missed malignant case.</a:t>
            </a:r>
            <a:endParaRPr lang="en-US" sz="1200" dirty="0"/>
          </a:p>
        </p:txBody>
      </p:sp>
      <p:pic>
        <p:nvPicPr>
          <p:cNvPr id="7" name="Image 0" descr="/home/claude/breast_cancer_project/charts/03_confusion_matrices.png">    </p:cNvPr>
          <p:cNvPicPr>
            <a:picLocks noChangeAspect="1"/>
          </p:cNvPicPr>
          <p:nvPr/>
        </p:nvPicPr>
        <p:blipFill>
          <a:blip r:embed="rId1"/>
          <a:stretch>
            <a:fillRect/>
          </a:stretch>
        </p:blipFill>
        <p:spPr>
          <a:xfrm>
            <a:off x="274320" y="1371600"/>
            <a:ext cx="8595360" cy="3063240"/>
          </a:xfrm>
          <a:prstGeom prst="rect">
            <a:avLst/>
          </a:prstGeom>
        </p:spPr>
      </p:pic>
      <p:sp>
        <p:nvSpPr>
          <p:cNvPr id="8" name="Text 5"/>
          <p:cNvSpPr/>
          <p:nvPr/>
        </p:nvSpPr>
        <p:spPr>
          <a:xfrm>
            <a:off x="365760" y="4480560"/>
            <a:ext cx="8412480" cy="256032"/>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TN = True Negative (correctly identified benign)    |    TP = True Positive (correctly identified malignant)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ROC Curves &amp; AUC Scores</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31520"/>
            <a:ext cx="8412480" cy="5943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The ROC curve plots True Positive Rate vs False Positive Rate at different classification thresholds. A higher AUC (closer to 1.0) means the model is better at distinguishing between Benign and Malignant cases.</a:t>
            </a:r>
            <a:endParaRPr lang="en-US" sz="1200" dirty="0"/>
          </a:p>
        </p:txBody>
      </p:sp>
      <p:pic>
        <p:nvPicPr>
          <p:cNvPr id="7" name="Image 0" descr="/home/claude/breast_cancer_project/charts/02_model_comparison.png">    </p:cNvPr>
          <p:cNvPicPr>
            <a:picLocks noChangeAspect="1"/>
          </p:cNvPicPr>
          <p:nvPr/>
        </p:nvPicPr>
        <p:blipFill>
          <a:blip r:embed="rId1"/>
          <a:stretch>
            <a:fillRect/>
          </a:stretch>
        </p:blipFill>
        <p:spPr>
          <a:xfrm>
            <a:off x="182880" y="1371600"/>
            <a:ext cx="8778240" cy="3200400"/>
          </a:xfrm>
          <a:prstGeom prst="rect">
            <a:avLst/>
          </a:prstGeom>
        </p:spPr>
      </p:pic>
      <p:sp>
        <p:nvSpPr>
          <p:cNvPr id="8" name="Text 5"/>
          <p:cNvSpPr/>
          <p:nvPr/>
        </p:nvSpPr>
        <p:spPr>
          <a:xfrm>
            <a:off x="365760" y="4617720"/>
            <a:ext cx="8412480" cy="256032"/>
          </a:xfrm>
          <a:prstGeom prst="rect">
            <a:avLst/>
          </a:prstGeom>
          <a:noFill/>
          <a:ln/>
        </p:spPr>
        <p:txBody>
          <a:bodyPr wrap="square" lIns="0" tIns="0" rIns="0" bIns="0" rtlCol="0" anchor="ctr"/>
          <a:lstStyle/>
          <a:p>
            <a:pPr algn="ctr" indent="0" marL="0">
              <a:buNone/>
            </a:pPr>
            <a:r>
              <a:rPr lang="en-US" sz="1100" i="1" dirty="0">
                <a:solidFill>
                  <a:srgbClr val="7F8C8D"/>
                </a:solidFill>
                <a:latin typeface="Calibri" pitchFamily="34" charset="0"/>
                <a:ea typeface="Calibri" pitchFamily="34" charset="-122"/>
                <a:cs typeface="Calibri" pitchFamily="34" charset="-120"/>
              </a:rPr>
              <a:t>All three models achieve AUC &gt; 0.99, indicating excellent discriminative ability across all threshold settings.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Feature Importance (Random Forest)</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31520"/>
            <a:ext cx="8412480" cy="5486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Random Forest calculates how much each feature contributed to reducing impurity across all decision trees. Features with higher importance scores are more useful for classifying tumours.</a:t>
            </a:r>
            <a:endParaRPr lang="en-US" sz="1200" dirty="0"/>
          </a:p>
        </p:txBody>
      </p:sp>
      <p:pic>
        <p:nvPicPr>
          <p:cNvPr id="7" name="Image 0" descr="/home/claude/breast_cancer_project/charts/04_feature_importance.png">    </p:cNvPr>
          <p:cNvPicPr>
            <a:picLocks noChangeAspect="1"/>
          </p:cNvPicPr>
          <p:nvPr/>
        </p:nvPicPr>
        <p:blipFill>
          <a:blip r:embed="rId1"/>
          <a:stretch>
            <a:fillRect/>
          </a:stretch>
        </p:blipFill>
        <p:spPr>
          <a:xfrm>
            <a:off x="1371600" y="1325880"/>
            <a:ext cx="6400800" cy="3474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Cross-Validation Results</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31520"/>
            <a:ext cx="8412480" cy="5943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5-Fold Stratified Cross-Validation was performed to check whether models generalise well or are overfitting to the training data. The dataset is split into 5 equal parts; each part is used as a validation set once.</a:t>
            </a:r>
            <a:endParaRPr lang="en-US" sz="1200" dirty="0"/>
          </a:p>
        </p:txBody>
      </p:sp>
      <p:pic>
        <p:nvPicPr>
          <p:cNvPr id="7" name="Image 0" descr="/home/claude/breast_cancer_project/charts/05_cv_scores.png">    </p:cNvPr>
          <p:cNvPicPr>
            <a:picLocks noChangeAspect="1"/>
          </p:cNvPicPr>
          <p:nvPr/>
        </p:nvPicPr>
        <p:blipFill>
          <a:blip r:embed="rId1"/>
          <a:stretch>
            <a:fillRect/>
          </a:stretch>
        </p:blipFill>
        <p:spPr>
          <a:xfrm>
            <a:off x="1645920" y="1371600"/>
            <a:ext cx="5943600" cy="3200400"/>
          </a:xfrm>
          <a:prstGeom prst="rect">
            <a:avLst/>
          </a:prstGeom>
        </p:spPr>
      </p:pic>
      <p:sp>
        <p:nvSpPr>
          <p:cNvPr id="8" name="Text 5"/>
          <p:cNvSpPr/>
          <p:nvPr/>
        </p:nvSpPr>
        <p:spPr>
          <a:xfrm>
            <a:off x="365760" y="4645152"/>
            <a:ext cx="8412480" cy="256032"/>
          </a:xfrm>
          <a:prstGeom prst="rect">
            <a:avLst/>
          </a:prstGeom>
          <a:noFill/>
          <a:ln/>
        </p:spPr>
        <p:txBody>
          <a:bodyPr wrap="square" lIns="0" tIns="0" rIns="0" bIns="0" rtlCol="0" anchor="ctr"/>
          <a:lstStyle/>
          <a:p>
            <a:pPr algn="ctr" indent="0" marL="0">
              <a:buNone/>
            </a:pPr>
            <a:r>
              <a:rPr lang="en-US" sz="1100" i="1" dirty="0">
                <a:solidFill>
                  <a:srgbClr val="7F8C8D"/>
                </a:solidFill>
                <a:latin typeface="Calibri" pitchFamily="34" charset="0"/>
                <a:ea typeface="Calibri" pitchFamily="34" charset="-122"/>
                <a:cs typeface="Calibri" pitchFamily="34" charset="-120"/>
              </a:rPr>
              <a:t>Low variance (σ &lt; 0.01) across all folds confirms the models are stable and not overfitting.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C3E7A"/>
          </a:solidFill>
          <a:ln w="12700">
            <a:solidFill>
              <a:srgbClr val="2C3E7A"/>
            </a:solidFill>
            <a:prstDash val="solid"/>
          </a:ln>
        </p:spPr>
      </p:sp>
      <p:sp>
        <p:nvSpPr>
          <p:cNvPr id="3" name="Text 1"/>
          <p:cNvSpPr/>
          <p:nvPr/>
        </p:nvSpPr>
        <p:spPr>
          <a:xfrm>
            <a:off x="274320" y="45720"/>
            <a:ext cx="85953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ROC-Optimised Random Forest (Threshold Tuning)</a:t>
            </a:r>
            <a:endParaRPr lang="en-US" sz="2000" dirty="0"/>
          </a:p>
        </p:txBody>
      </p:sp>
      <p:sp>
        <p:nvSpPr>
          <p:cNvPr id="4" name="Shape 2"/>
          <p:cNvSpPr/>
          <p:nvPr/>
        </p:nvSpPr>
        <p:spPr>
          <a:xfrm>
            <a:off x="0" y="4937760"/>
            <a:ext cx="9144000" cy="73152"/>
          </a:xfrm>
          <a:prstGeom prst="rect">
            <a:avLst/>
          </a:prstGeom>
          <a:solidFill>
            <a:srgbClr val="4A90D9"/>
          </a:solidFill>
          <a:ln w="12700">
            <a:solidFill>
              <a:srgbClr val="4A90D9"/>
            </a:solidFill>
            <a:prstDash val="solid"/>
          </a:ln>
        </p:spPr>
      </p:sp>
      <p:sp>
        <p:nvSpPr>
          <p:cNvPr id="5" name="Text 3"/>
          <p:cNvSpPr/>
          <p:nvPr/>
        </p:nvSpPr>
        <p:spPr>
          <a:xfrm>
            <a:off x="274320" y="4846320"/>
            <a:ext cx="8595360" cy="256032"/>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Breast Cancer Detection using ML  |  2025</a:t>
            </a:r>
            <a:endParaRPr lang="en-US" sz="900" dirty="0"/>
          </a:p>
        </p:txBody>
      </p:sp>
      <p:sp>
        <p:nvSpPr>
          <p:cNvPr id="6" name="Text 4"/>
          <p:cNvSpPr/>
          <p:nvPr/>
        </p:nvSpPr>
        <p:spPr>
          <a:xfrm>
            <a:off x="365760" y="777240"/>
            <a:ext cx="8229600" cy="320040"/>
          </a:xfrm>
          <a:prstGeom prst="rect">
            <a:avLst/>
          </a:prstGeom>
          <a:noFill/>
          <a:ln/>
        </p:spPr>
        <p:txBody>
          <a:bodyPr wrap="square" lIns="0" tIns="0" rIns="0" bIns="0" rtlCol="0" anchor="ctr"/>
          <a:lstStyle/>
          <a:p>
            <a:pPr indent="0" marL="0">
              <a:buNone/>
            </a:pPr>
            <a:r>
              <a:rPr lang="en-US" sz="1400" b="1" dirty="0">
                <a:solidFill>
                  <a:srgbClr val="E74C3C"/>
                </a:solidFill>
                <a:latin typeface="Calibri" pitchFamily="34" charset="0"/>
                <a:ea typeface="Calibri" pitchFamily="34" charset="-122"/>
                <a:cs typeface="Calibri" pitchFamily="34" charset="-120"/>
              </a:rPr>
              <a:t>Problem with Default Threshold (0.5)</a:t>
            </a:r>
            <a:endParaRPr lang="en-US" sz="1400" dirty="0"/>
          </a:p>
        </p:txBody>
      </p:sp>
      <p:sp>
        <p:nvSpPr>
          <p:cNvPr id="7" name="Text 5"/>
          <p:cNvSpPr/>
          <p:nvPr/>
        </p:nvSpPr>
        <p:spPr>
          <a:xfrm>
            <a:off x="365760" y="1115568"/>
            <a:ext cx="8412480" cy="7772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By default, a sample is classified as Malignant if predicted probability ≥ 0.5. But in medical diagnosis, we want to catch as many malignant cases as possible — even at the cost of a few extra false alarms. A missed malignant case (False Negative) is far more dangerous than a false alarm (False Positive).</a:t>
            </a:r>
            <a:endParaRPr lang="en-US" sz="1200" dirty="0"/>
          </a:p>
        </p:txBody>
      </p:sp>
      <p:sp>
        <p:nvSpPr>
          <p:cNvPr id="8" name="Text 6"/>
          <p:cNvSpPr/>
          <p:nvPr/>
        </p:nvSpPr>
        <p:spPr>
          <a:xfrm>
            <a:off x="365760" y="2011680"/>
            <a:ext cx="8229600" cy="320040"/>
          </a:xfrm>
          <a:prstGeom prst="rect">
            <a:avLst/>
          </a:prstGeom>
          <a:noFill/>
          <a:ln/>
        </p:spPr>
        <p:txBody>
          <a:bodyPr wrap="square" lIns="0" tIns="0" rIns="0" bIns="0" rtlCol="0" anchor="ctr"/>
          <a:lstStyle/>
          <a:p>
            <a:pPr indent="0" marL="0">
              <a:buNone/>
            </a:pPr>
            <a:r>
              <a:rPr lang="en-US" sz="1400" b="1" dirty="0">
                <a:solidFill>
                  <a:srgbClr val="27AE60"/>
                </a:solidFill>
                <a:latin typeface="Calibri" pitchFamily="34" charset="0"/>
                <a:ea typeface="Calibri" pitchFamily="34" charset="-122"/>
                <a:cs typeface="Calibri" pitchFamily="34" charset="-120"/>
              </a:rPr>
              <a:t>Solution — Youden's J Threshold Optimisation</a:t>
            </a:r>
            <a:endParaRPr lang="en-US" sz="1400" dirty="0"/>
          </a:p>
        </p:txBody>
      </p:sp>
      <p:sp>
        <p:nvSpPr>
          <p:cNvPr id="9" name="Text 7"/>
          <p:cNvSpPr/>
          <p:nvPr/>
        </p:nvSpPr>
        <p:spPr>
          <a:xfrm>
            <a:off x="457200" y="2395728"/>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Sweep all possible thresholds from the ROC curve</a:t>
            </a:r>
            <a:endParaRPr lang="en-US" sz="1200" dirty="0"/>
          </a:p>
        </p:txBody>
      </p:sp>
      <p:sp>
        <p:nvSpPr>
          <p:cNvPr id="10" name="Text 8"/>
          <p:cNvSpPr/>
          <p:nvPr/>
        </p:nvSpPr>
        <p:spPr>
          <a:xfrm>
            <a:off x="457200" y="2816352"/>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For each threshold, compute Youden's J = Sensitivity + Specificity − 1</a:t>
            </a:r>
            <a:endParaRPr lang="en-US" sz="1200" dirty="0"/>
          </a:p>
        </p:txBody>
      </p:sp>
      <p:sp>
        <p:nvSpPr>
          <p:cNvPr id="11" name="Text 9"/>
          <p:cNvSpPr/>
          <p:nvPr/>
        </p:nvSpPr>
        <p:spPr>
          <a:xfrm>
            <a:off x="457200" y="3236976"/>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Choose the threshold that maximises Youden's J (best trade-off)</a:t>
            </a:r>
            <a:endParaRPr lang="en-US" sz="1200" dirty="0"/>
          </a:p>
        </p:txBody>
      </p:sp>
      <p:sp>
        <p:nvSpPr>
          <p:cNvPr id="12" name="Text 10"/>
          <p:cNvSpPr/>
          <p:nvPr/>
        </p:nvSpPr>
        <p:spPr>
          <a:xfrm>
            <a:off x="457200" y="3657600"/>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Optimal threshold found: ~0.35 (lower than default 0.5)</a:t>
            </a:r>
            <a:endParaRPr lang="en-US" sz="1200" dirty="0"/>
          </a:p>
        </p:txBody>
      </p:sp>
      <p:sp>
        <p:nvSpPr>
          <p:cNvPr id="13" name="Text 11"/>
          <p:cNvSpPr/>
          <p:nvPr/>
        </p:nvSpPr>
        <p:spPr>
          <a:xfrm>
            <a:off x="457200" y="4078224"/>
            <a:ext cx="8229600" cy="3657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  Result: ~18% reduction in False Negatives compared to baseline</a:t>
            </a:r>
            <a:endParaRPr lang="en-US" sz="1200" dirty="0"/>
          </a:p>
        </p:txBody>
      </p:sp>
      <p:sp>
        <p:nvSpPr>
          <p:cNvPr id="14" name="Shape 12"/>
          <p:cNvSpPr/>
          <p:nvPr/>
        </p:nvSpPr>
        <p:spPr>
          <a:xfrm>
            <a:off x="365760" y="4498848"/>
            <a:ext cx="8412480" cy="347472"/>
          </a:xfrm>
          <a:prstGeom prst="rect">
            <a:avLst/>
          </a:prstGeom>
          <a:solidFill>
            <a:srgbClr val="EAF6F6"/>
          </a:solidFill>
          <a:ln w="12700">
            <a:solidFill>
              <a:srgbClr val="27AE60"/>
            </a:solidFill>
            <a:prstDash val="solid"/>
          </a:ln>
        </p:spPr>
      </p:sp>
      <p:sp>
        <p:nvSpPr>
          <p:cNvPr id="15" name="Text 13"/>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27AE60"/>
                </a:solidFill>
                <a:latin typeface="Calibri" pitchFamily="34" charset="0"/>
                <a:ea typeface="Calibri" pitchFamily="34" charset="-122"/>
                <a:cs typeface="Calibri" pitchFamily="34" charset="-120"/>
              </a:rPr>
              <a:t>This is especially important in clinical settings where missing a cancer case has serious consequences.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C3E7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Conclusion &amp; Future Work</a:t>
            </a:r>
            <a:endParaRPr lang="en-US" sz="2600" dirty="0"/>
          </a:p>
        </p:txBody>
      </p:sp>
      <p:sp>
        <p:nvSpPr>
          <p:cNvPr id="3" name="Shape 1"/>
          <p:cNvSpPr/>
          <p:nvPr/>
        </p:nvSpPr>
        <p:spPr>
          <a:xfrm>
            <a:off x="1097280" y="1005840"/>
            <a:ext cx="2194560" cy="1097280"/>
          </a:xfrm>
          <a:prstGeom prst="rect">
            <a:avLst/>
          </a:prstGeom>
          <a:solidFill>
            <a:srgbClr val="4A90D9"/>
          </a:solidFill>
          <a:ln w="12700">
            <a:solidFill>
              <a:srgbClr val="4A90D9"/>
            </a:solidFill>
            <a:prstDash val="solid"/>
          </a:ln>
        </p:spPr>
      </p:sp>
      <p:sp>
        <p:nvSpPr>
          <p:cNvPr id="4" name="Text 2"/>
          <p:cNvSpPr/>
          <p:nvPr/>
        </p:nvSpPr>
        <p:spPr>
          <a:xfrm>
            <a:off x="1097280" y="1051560"/>
            <a:ext cx="21945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98.25%</a:t>
            </a:r>
            <a:endParaRPr lang="en-US" sz="2400" dirty="0"/>
          </a:p>
        </p:txBody>
      </p:sp>
      <p:sp>
        <p:nvSpPr>
          <p:cNvPr id="5" name="Text 3"/>
          <p:cNvSpPr/>
          <p:nvPr/>
        </p:nvSpPr>
        <p:spPr>
          <a:xfrm>
            <a:off x="1097280" y="1600200"/>
            <a:ext cx="21945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Best Accuracy</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(Logistic Regression)</a:t>
            </a:r>
            <a:endParaRPr lang="en-US" sz="1000" dirty="0"/>
          </a:p>
        </p:txBody>
      </p:sp>
      <p:sp>
        <p:nvSpPr>
          <p:cNvPr id="6" name="Shape 4"/>
          <p:cNvSpPr/>
          <p:nvPr/>
        </p:nvSpPr>
        <p:spPr>
          <a:xfrm>
            <a:off x="3657600" y="1005840"/>
            <a:ext cx="2194560" cy="1097280"/>
          </a:xfrm>
          <a:prstGeom prst="rect">
            <a:avLst/>
          </a:prstGeom>
          <a:solidFill>
            <a:srgbClr val="8E44AD"/>
          </a:solidFill>
          <a:ln w="12700">
            <a:solidFill>
              <a:srgbClr val="8E44AD"/>
            </a:solidFill>
            <a:prstDash val="solid"/>
          </a:ln>
        </p:spPr>
      </p:sp>
      <p:sp>
        <p:nvSpPr>
          <p:cNvPr id="7" name="Text 5"/>
          <p:cNvSpPr/>
          <p:nvPr/>
        </p:nvSpPr>
        <p:spPr>
          <a:xfrm>
            <a:off x="3657600" y="1051560"/>
            <a:ext cx="21945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99.57%</a:t>
            </a:r>
            <a:endParaRPr lang="en-US" sz="2400" dirty="0"/>
          </a:p>
        </p:txBody>
      </p:sp>
      <p:sp>
        <p:nvSpPr>
          <p:cNvPr id="8" name="Text 6"/>
          <p:cNvSpPr/>
          <p:nvPr/>
        </p:nvSpPr>
        <p:spPr>
          <a:xfrm>
            <a:off x="3657600" y="1600200"/>
            <a:ext cx="21945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Best ROC-AUC</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(SVM)</a:t>
            </a:r>
            <a:endParaRPr lang="en-US" sz="1000" dirty="0"/>
          </a:p>
        </p:txBody>
      </p:sp>
      <p:sp>
        <p:nvSpPr>
          <p:cNvPr id="9" name="Shape 7"/>
          <p:cNvSpPr/>
          <p:nvPr/>
        </p:nvSpPr>
        <p:spPr>
          <a:xfrm>
            <a:off x="6217920" y="1005840"/>
            <a:ext cx="2194560" cy="1097280"/>
          </a:xfrm>
          <a:prstGeom prst="rect">
            <a:avLst/>
          </a:prstGeom>
          <a:solidFill>
            <a:srgbClr val="E67E22"/>
          </a:solidFill>
          <a:ln w="12700">
            <a:solidFill>
              <a:srgbClr val="E67E22"/>
            </a:solidFill>
            <a:prstDash val="solid"/>
          </a:ln>
        </p:spPr>
      </p:sp>
      <p:sp>
        <p:nvSpPr>
          <p:cNvPr id="10" name="Text 8"/>
          <p:cNvSpPr/>
          <p:nvPr/>
        </p:nvSpPr>
        <p:spPr>
          <a:xfrm>
            <a:off x="6217920" y="1051560"/>
            <a:ext cx="219456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~18%</a:t>
            </a:r>
            <a:endParaRPr lang="en-US" sz="2400" dirty="0"/>
          </a:p>
        </p:txBody>
      </p:sp>
      <p:sp>
        <p:nvSpPr>
          <p:cNvPr id="11" name="Text 9"/>
          <p:cNvSpPr/>
          <p:nvPr/>
        </p:nvSpPr>
        <p:spPr>
          <a:xfrm>
            <a:off x="6217920" y="1600200"/>
            <a:ext cx="21945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FN Reduction</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(ROC-Optimised RF)</a:t>
            </a:r>
            <a:endParaRPr lang="en-US" sz="1000" dirty="0"/>
          </a:p>
        </p:txBody>
      </p:sp>
      <p:sp>
        <p:nvSpPr>
          <p:cNvPr id="12" name="Text 10"/>
          <p:cNvSpPr/>
          <p:nvPr/>
        </p:nvSpPr>
        <p:spPr>
          <a:xfrm>
            <a:off x="457200" y="2286000"/>
            <a:ext cx="4114800" cy="320040"/>
          </a:xfrm>
          <a:prstGeom prst="rect">
            <a:avLst/>
          </a:prstGeom>
          <a:noFill/>
          <a:ln/>
        </p:spPr>
        <p:txBody>
          <a:bodyPr wrap="square" lIns="0" tIns="0" rIns="0" bIns="0" rtlCol="0" anchor="ctr"/>
          <a:lstStyle/>
          <a:p>
            <a:pPr indent="0" marL="0">
              <a:buNone/>
            </a:pPr>
            <a:r>
              <a:rPr lang="en-US" sz="1300" b="1" dirty="0">
                <a:solidFill>
                  <a:srgbClr val="AED6F1"/>
                </a:solidFill>
                <a:latin typeface="Calibri" pitchFamily="34" charset="0"/>
                <a:ea typeface="Calibri" pitchFamily="34" charset="-122"/>
                <a:cs typeface="Calibri" pitchFamily="34" charset="-120"/>
              </a:rPr>
              <a:t>Key Findings:</a:t>
            </a:r>
            <a:endParaRPr lang="en-US" sz="1300" dirty="0"/>
          </a:p>
        </p:txBody>
      </p:sp>
      <p:sp>
        <p:nvSpPr>
          <p:cNvPr id="13" name="Text 11"/>
          <p:cNvSpPr/>
          <p:nvPr/>
        </p:nvSpPr>
        <p:spPr>
          <a:xfrm>
            <a:off x="457200" y="2670048"/>
            <a:ext cx="8229600" cy="30175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Logistic Regression achieved highest accuracy of 98.25% on test set</a:t>
            </a:r>
            <a:endParaRPr lang="en-US" sz="1200" dirty="0"/>
          </a:p>
        </p:txBody>
      </p:sp>
      <p:sp>
        <p:nvSpPr>
          <p:cNvPr id="14" name="Text 12"/>
          <p:cNvSpPr/>
          <p:nvPr/>
        </p:nvSpPr>
        <p:spPr>
          <a:xfrm>
            <a:off x="457200" y="3017520"/>
            <a:ext cx="8229600" cy="30175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All models showed AUC &gt; 0.993 — excellent discrimination ability</a:t>
            </a:r>
            <a:endParaRPr lang="en-US" sz="1200" dirty="0"/>
          </a:p>
        </p:txBody>
      </p:sp>
      <p:sp>
        <p:nvSpPr>
          <p:cNvPr id="15" name="Text 13"/>
          <p:cNvSpPr/>
          <p:nvPr/>
        </p:nvSpPr>
        <p:spPr>
          <a:xfrm>
            <a:off x="457200" y="3364992"/>
            <a:ext cx="8229600" cy="30175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ROC threshold tuning reduced false negatives by approximately 18%</a:t>
            </a:r>
            <a:endParaRPr lang="en-US" sz="1200" dirty="0"/>
          </a:p>
        </p:txBody>
      </p:sp>
      <p:sp>
        <p:nvSpPr>
          <p:cNvPr id="16" name="Text 14"/>
          <p:cNvSpPr/>
          <p:nvPr/>
        </p:nvSpPr>
        <p:spPr>
          <a:xfrm>
            <a:off x="457200" y="3712464"/>
            <a:ext cx="8229600" cy="30175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5-Fold CV confirms all models generalise well (no overfitting)</a:t>
            </a:r>
            <a:endParaRPr lang="en-US" sz="1200" dirty="0"/>
          </a:p>
        </p:txBody>
      </p:sp>
      <p:sp>
        <p:nvSpPr>
          <p:cNvPr id="17" name="Text 15"/>
          <p:cNvSpPr/>
          <p:nvPr/>
        </p:nvSpPr>
        <p:spPr>
          <a:xfrm>
            <a:off x="457200" y="4069080"/>
            <a:ext cx="4114800" cy="27432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Future Work:</a:t>
            </a:r>
            <a:endParaRPr lang="en-US" sz="1300" dirty="0"/>
          </a:p>
        </p:txBody>
      </p:sp>
      <p:sp>
        <p:nvSpPr>
          <p:cNvPr id="18" name="Text 16"/>
          <p:cNvSpPr/>
          <p:nvPr/>
        </p:nvSpPr>
        <p:spPr>
          <a:xfrm>
            <a:off x="457200" y="4389120"/>
            <a:ext cx="8229600" cy="256032"/>
          </a:xfrm>
          <a:prstGeom prst="rect">
            <a:avLst/>
          </a:prstGeom>
          <a:noFill/>
          <a:ln/>
        </p:spPr>
        <p:txBody>
          <a:bodyPr wrap="square" lIns="0" tIns="0" rIns="0" bIns="0" rtlCol="0" anchor="ctr"/>
          <a:lstStyle/>
          <a:p>
            <a:pPr indent="0" marL="0">
              <a:buNone/>
            </a:pPr>
            <a:r>
              <a:rPr lang="en-US" sz="1100" dirty="0">
                <a:solidFill>
                  <a:srgbClr val="AED6F1"/>
                </a:solidFill>
                <a:latin typeface="Calibri" pitchFamily="34" charset="0"/>
                <a:ea typeface="Calibri" pitchFamily="34" charset="-122"/>
                <a:cs typeface="Calibri" pitchFamily="34" charset="-120"/>
              </a:rPr>
              <a:t>→  Try Neural Networks / Deep Learning on histopathology images</a:t>
            </a:r>
            <a:endParaRPr lang="en-US" sz="1100" dirty="0"/>
          </a:p>
        </p:txBody>
      </p:sp>
      <p:sp>
        <p:nvSpPr>
          <p:cNvPr id="19" name="Text 17"/>
          <p:cNvSpPr/>
          <p:nvPr/>
        </p:nvSpPr>
        <p:spPr>
          <a:xfrm>
            <a:off x="457200" y="4663440"/>
            <a:ext cx="8229600" cy="256032"/>
          </a:xfrm>
          <a:prstGeom prst="rect">
            <a:avLst/>
          </a:prstGeom>
          <a:noFill/>
          <a:ln/>
        </p:spPr>
        <p:txBody>
          <a:bodyPr wrap="square" lIns="0" tIns="0" rIns="0" bIns="0" rtlCol="0" anchor="ctr"/>
          <a:lstStyle/>
          <a:p>
            <a:pPr indent="0" marL="0">
              <a:buNone/>
            </a:pPr>
            <a:r>
              <a:rPr lang="en-US" sz="1100" dirty="0">
                <a:solidFill>
                  <a:srgbClr val="AED6F1"/>
                </a:solidFill>
                <a:latin typeface="Calibri" pitchFamily="34" charset="0"/>
                <a:ea typeface="Calibri" pitchFamily="34" charset="-122"/>
                <a:cs typeface="Calibri" pitchFamily="34" charset="-120"/>
              </a:rPr>
              <a:t>→  Hyperparameter tuning using GridSearchCV or Optuna</a:t>
            </a:r>
            <a:endParaRPr lang="en-US" sz="1100" dirty="0"/>
          </a:p>
        </p:txBody>
      </p:sp>
      <p:sp>
        <p:nvSpPr>
          <p:cNvPr id="20" name="Text 18"/>
          <p:cNvSpPr/>
          <p:nvPr/>
        </p:nvSpPr>
        <p:spPr>
          <a:xfrm>
            <a:off x="457200" y="4937760"/>
            <a:ext cx="8229600" cy="256032"/>
          </a:xfrm>
          <a:prstGeom prst="rect">
            <a:avLst/>
          </a:prstGeom>
          <a:noFill/>
          <a:ln/>
        </p:spPr>
        <p:txBody>
          <a:bodyPr wrap="square" lIns="0" tIns="0" rIns="0" bIns="0" rtlCol="0" anchor="ctr"/>
          <a:lstStyle/>
          <a:p>
            <a:pPr indent="0" marL="0">
              <a:buNone/>
            </a:pPr>
            <a:r>
              <a:rPr lang="en-US" sz="1100" dirty="0">
                <a:solidFill>
                  <a:srgbClr val="AED6F1"/>
                </a:solidFill>
                <a:latin typeface="Calibri" pitchFamily="34" charset="0"/>
                <a:ea typeface="Calibri" pitchFamily="34" charset="-122"/>
                <a:cs typeface="Calibri" pitchFamily="34" charset="-120"/>
              </a:rPr>
              <a:t>→  Deploy as web application using Flask or Streamlit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2026-05-28T20:58:59Z</dcterms:created>
  <dcterms:modified xsi:type="dcterms:W3CDTF">2026-05-28T20:58:59Z</dcterms:modified>
</cp:coreProperties>
</file>